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Times New Roman" charset="1" panose="02020603050405020304"/>
      <p:regular r:id="rId43"/>
    </p:embeddedFont>
    <p:embeddedFont>
      <p:font typeface="Times New Roman Bold" charset="1" panose="02020803070505020304"/>
      <p:regular r:id="rId44"/>
    </p:embeddedFont>
    <p:embeddedFont>
      <p:font typeface="Canva Sans" charset="1" panose="020B0503030501040103"/>
      <p:regular r:id="rId45"/>
    </p:embeddedFont>
    <p:embeddedFont>
      <p:font typeface="Canva Sans Bold" charset="1" panose="020B0803030501040103"/>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 Id="rId5" Target="../media/image6.png" Type="http://schemas.openxmlformats.org/officeDocument/2006/relationships/image"/><Relationship Id="rId6"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 Id="rId5" Target="../media/image7.png" Type="http://schemas.openxmlformats.org/officeDocument/2006/relationships/image"/><Relationship Id="rId6" Target="../embeddings/oleObject2.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 Id="rId5" Target="../media/image8.png" Type="http://schemas.openxmlformats.org/officeDocument/2006/relationships/image"/><Relationship Id="rId6" Target="../embeddings/oleObject3.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 Id="rId5"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embeddings/oleObject4.bin" Type="http://schemas.openxmlformats.org/officeDocument/2006/relationships/oleObjec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0" y="4608900"/>
            <a:ext cx="9131941" cy="4925882"/>
            <a:chOff x="0" y="0"/>
            <a:chExt cx="13023511" cy="7025043"/>
          </a:xfrm>
        </p:grpSpPr>
        <p:sp>
          <p:nvSpPr>
            <p:cNvPr name="Freeform 13" id="13"/>
            <p:cNvSpPr/>
            <p:nvPr/>
          </p:nvSpPr>
          <p:spPr>
            <a:xfrm flipH="false" flipV="false" rot="0">
              <a:off x="0" y="0"/>
              <a:ext cx="13023497" cy="7025005"/>
            </a:xfrm>
            <a:custGeom>
              <a:avLst/>
              <a:gdLst/>
              <a:ahLst/>
              <a:cxnLst/>
              <a:rect r="r" b="b" t="t" l="l"/>
              <a:pathLst>
                <a:path h="7025005" w="13023497">
                  <a:moveTo>
                    <a:pt x="0" y="0"/>
                  </a:moveTo>
                  <a:lnTo>
                    <a:pt x="13023497" y="0"/>
                  </a:lnTo>
                  <a:lnTo>
                    <a:pt x="13023497" y="7025005"/>
                  </a:lnTo>
                  <a:lnTo>
                    <a:pt x="0" y="7025005"/>
                  </a:lnTo>
                  <a:lnTo>
                    <a:pt x="0" y="0"/>
                  </a:lnTo>
                  <a:close/>
                </a:path>
              </a:pathLst>
            </a:custGeom>
            <a:blipFill>
              <a:blip r:embed="rId4"/>
              <a:stretch>
                <a:fillRect l="0" t="-4755" r="0" b="-4755"/>
              </a:stretch>
            </a:blipFill>
          </p:spPr>
        </p:sp>
      </p:grpSp>
      <p:grpSp>
        <p:nvGrpSpPr>
          <p:cNvPr name="Group 14" id="14"/>
          <p:cNvGrpSpPr/>
          <p:nvPr/>
        </p:nvGrpSpPr>
        <p:grpSpPr>
          <a:xfrm rot="0">
            <a:off x="9144000" y="4608900"/>
            <a:ext cx="9144714" cy="4925882"/>
            <a:chOff x="0" y="0"/>
            <a:chExt cx="13304740" cy="7166718"/>
          </a:xfrm>
        </p:grpSpPr>
        <p:sp>
          <p:nvSpPr>
            <p:cNvPr name="Freeform 15" id="15"/>
            <p:cNvSpPr/>
            <p:nvPr/>
          </p:nvSpPr>
          <p:spPr>
            <a:xfrm flipH="false" flipV="false" rot="0">
              <a:off x="0" y="0"/>
              <a:ext cx="13304791" cy="7166679"/>
            </a:xfrm>
            <a:custGeom>
              <a:avLst/>
              <a:gdLst/>
              <a:ahLst/>
              <a:cxnLst/>
              <a:rect r="r" b="b" t="t" l="l"/>
              <a:pathLst>
                <a:path h="7166679" w="13304791">
                  <a:moveTo>
                    <a:pt x="0" y="0"/>
                  </a:moveTo>
                  <a:lnTo>
                    <a:pt x="13304791" y="0"/>
                  </a:lnTo>
                  <a:lnTo>
                    <a:pt x="13304791" y="7166679"/>
                  </a:lnTo>
                  <a:lnTo>
                    <a:pt x="0" y="7166679"/>
                  </a:lnTo>
                  <a:lnTo>
                    <a:pt x="0" y="0"/>
                  </a:lnTo>
                  <a:close/>
                </a:path>
              </a:pathLst>
            </a:custGeom>
            <a:blipFill>
              <a:blip r:embed="rId5"/>
              <a:stretch>
                <a:fillRect l="0" t="-4069" r="0" b="-4069"/>
              </a:stretch>
            </a:blipFill>
          </p:spPr>
        </p:sp>
      </p:grpSp>
      <p:sp>
        <p:nvSpPr>
          <p:cNvPr name="TextBox 16" id="16"/>
          <p:cNvSpPr txBox="true"/>
          <p:nvPr/>
        </p:nvSpPr>
        <p:spPr>
          <a:xfrm rot="0">
            <a:off x="140222" y="2029377"/>
            <a:ext cx="17983438" cy="467106"/>
          </a:xfrm>
          <a:prstGeom prst="rect">
            <a:avLst/>
          </a:prstGeom>
        </p:spPr>
        <p:txBody>
          <a:bodyPr anchor="t" rtlCol="false" tIns="0" lIns="0" bIns="0" rIns="0">
            <a:spAutoFit/>
          </a:bodyPr>
          <a:lstStyle/>
          <a:p>
            <a:pPr algn="ctr">
              <a:lnSpc>
                <a:spcPts val="3402"/>
              </a:lnSpc>
            </a:pPr>
            <a:r>
              <a:rPr lang="en-US" sz="3150">
                <a:solidFill>
                  <a:srgbClr val="000000"/>
                </a:solidFill>
                <a:latin typeface="Times New Roman"/>
                <a:ea typeface="Times New Roman"/>
                <a:cs typeface="Times New Roman"/>
                <a:sym typeface="Times New Roman"/>
              </a:rPr>
              <a:t>Department of Information Technology</a:t>
            </a:r>
          </a:p>
        </p:txBody>
      </p:sp>
      <p:sp>
        <p:nvSpPr>
          <p:cNvPr name="TextBox 17" id="17"/>
          <p:cNvSpPr txBox="true"/>
          <p:nvPr/>
        </p:nvSpPr>
        <p:spPr>
          <a:xfrm rot="0">
            <a:off x="3543300" y="391077"/>
            <a:ext cx="12984480" cy="1399159"/>
          </a:xfrm>
          <a:prstGeom prst="rect">
            <a:avLst/>
          </a:prstGeom>
        </p:spPr>
        <p:txBody>
          <a:bodyPr anchor="t" rtlCol="false" tIns="0" lIns="0" bIns="0" rIns="0">
            <a:spAutoFit/>
          </a:bodyPr>
          <a:lstStyle/>
          <a:p>
            <a:pPr algn="ctr">
              <a:lnSpc>
                <a:spcPts val="5452"/>
              </a:lnSpc>
              <a:spcBef>
                <a:spcPct val="0"/>
              </a:spcBef>
            </a:pPr>
            <a:r>
              <a:rPr lang="en-US" b="true" sz="4544">
                <a:solidFill>
                  <a:srgbClr val="000000"/>
                </a:solidFill>
                <a:latin typeface="Times New Roman Bold"/>
                <a:ea typeface="Times New Roman Bold"/>
                <a:cs typeface="Times New Roman Bold"/>
                <a:sym typeface="Times New Roman Bold"/>
              </a:rPr>
              <a:t> Suitability Analysis for Rainwater Harvesting Site Planning Using GIS</a:t>
            </a:r>
          </a:p>
        </p:txBody>
      </p:sp>
      <p:sp>
        <p:nvSpPr>
          <p:cNvPr name="TextBox 18" id="18"/>
          <p:cNvSpPr txBox="true"/>
          <p:nvPr/>
        </p:nvSpPr>
        <p:spPr>
          <a:xfrm rot="0">
            <a:off x="1208375" y="3128639"/>
            <a:ext cx="15847134" cy="895731"/>
          </a:xfrm>
          <a:prstGeom prst="rect">
            <a:avLst/>
          </a:prstGeom>
        </p:spPr>
        <p:txBody>
          <a:bodyPr anchor="t" rtlCol="false" tIns="0" lIns="0" bIns="0" rIns="0">
            <a:spAutoFit/>
          </a:bodyPr>
          <a:lstStyle/>
          <a:p>
            <a:pPr algn="ctr">
              <a:lnSpc>
                <a:spcPts val="3402"/>
              </a:lnSpc>
            </a:pPr>
            <a:r>
              <a:rPr lang="en-US" sz="3150">
                <a:solidFill>
                  <a:srgbClr val="000000"/>
                </a:solidFill>
                <a:latin typeface="Times New Roman"/>
                <a:ea typeface="Times New Roman"/>
                <a:cs typeface="Times New Roman"/>
                <a:sym typeface="Times New Roman"/>
              </a:rPr>
              <a:t>Yesha Palan - 16010423120, Akshay Khandor - 16010423008, Aditya Dubey - 16010423006 , Arya Chimurkar - 16010423015</a:t>
            </a:r>
          </a:p>
        </p:txBody>
      </p:sp>
      <p:sp>
        <p:nvSpPr>
          <p:cNvPr name="TextBox 19" id="19"/>
          <p:cNvSpPr txBox="true"/>
          <p:nvPr/>
        </p:nvSpPr>
        <p:spPr>
          <a:xfrm rot="0">
            <a:off x="-324602" y="3975531"/>
            <a:ext cx="17983438" cy="467106"/>
          </a:xfrm>
          <a:prstGeom prst="rect">
            <a:avLst/>
          </a:prstGeom>
        </p:spPr>
        <p:txBody>
          <a:bodyPr anchor="t" rtlCol="false" tIns="0" lIns="0" bIns="0" rIns="0">
            <a:spAutoFit/>
          </a:bodyPr>
          <a:lstStyle/>
          <a:p>
            <a:pPr algn="ctr">
              <a:lnSpc>
                <a:spcPts val="3402"/>
              </a:lnSpc>
            </a:pPr>
            <a:r>
              <a:rPr lang="en-US" sz="3150">
                <a:solidFill>
                  <a:srgbClr val="000000"/>
                </a:solidFill>
                <a:latin typeface="Times New Roman"/>
                <a:ea typeface="Times New Roman"/>
                <a:cs typeface="Times New Roman"/>
                <a:sym typeface="Times New Roman"/>
              </a:rPr>
              <a:t>Project Guide - Mr. Chirag Ramesh Desai</a:t>
            </a:r>
          </a:p>
        </p:txBody>
      </p:sp>
      <p:sp>
        <p:nvSpPr>
          <p:cNvPr name="TextBox 20" id="20"/>
          <p:cNvSpPr txBox="true"/>
          <p:nvPr/>
        </p:nvSpPr>
        <p:spPr>
          <a:xfrm rot="0">
            <a:off x="152281" y="2662192"/>
            <a:ext cx="17983438" cy="467106"/>
          </a:xfrm>
          <a:prstGeom prst="rect">
            <a:avLst/>
          </a:prstGeom>
        </p:spPr>
        <p:txBody>
          <a:bodyPr anchor="t" rtlCol="false" tIns="0" lIns="0" bIns="0" rIns="0">
            <a:spAutoFit/>
          </a:bodyPr>
          <a:lstStyle/>
          <a:p>
            <a:pPr algn="ctr">
              <a:lnSpc>
                <a:spcPts val="3402"/>
              </a:lnSpc>
            </a:pPr>
            <a:r>
              <a:rPr lang="en-US" sz="3150">
                <a:solidFill>
                  <a:srgbClr val="000000"/>
                </a:solidFill>
                <a:latin typeface="Times New Roman"/>
                <a:ea typeface="Times New Roman"/>
                <a:cs typeface="Times New Roman"/>
                <a:sym typeface="Times New Roman"/>
              </a:rPr>
              <a:t>Group Id: 11</a:t>
            </a:r>
          </a:p>
        </p:txBody>
      </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0" y="8544523"/>
            <a:ext cx="1257662" cy="1762994"/>
            <a:chOff x="0" y="0"/>
            <a:chExt cx="1676883" cy="2350658"/>
          </a:xfrm>
        </p:grpSpPr>
        <p:sp>
          <p:nvSpPr>
            <p:cNvPr name="Freeform 13" id="13"/>
            <p:cNvSpPr/>
            <p:nvPr/>
          </p:nvSpPr>
          <p:spPr>
            <a:xfrm flipH="false" flipV="false" rot="0">
              <a:off x="0" y="0"/>
              <a:ext cx="1676908" cy="2350696"/>
            </a:xfrm>
            <a:custGeom>
              <a:avLst/>
              <a:gdLst/>
              <a:ahLst/>
              <a:cxnLst/>
              <a:rect r="r" b="b" t="t" l="l"/>
              <a:pathLst>
                <a:path h="2350696" w="1676908">
                  <a:moveTo>
                    <a:pt x="0" y="0"/>
                  </a:moveTo>
                  <a:lnTo>
                    <a:pt x="1676908" y="0"/>
                  </a:lnTo>
                  <a:lnTo>
                    <a:pt x="1676908" y="2350696"/>
                  </a:lnTo>
                  <a:lnTo>
                    <a:pt x="0" y="2350696"/>
                  </a:lnTo>
                  <a:lnTo>
                    <a:pt x="0" y="0"/>
                  </a:lnTo>
                  <a:close/>
                </a:path>
              </a:pathLst>
            </a:custGeom>
            <a:solidFill>
              <a:srgbClr val="A4242F"/>
            </a:solidFill>
          </p:spPr>
        </p:sp>
      </p:grpSp>
      <p:grpSp>
        <p:nvGrpSpPr>
          <p:cNvPr name="Group 14" id="14"/>
          <p:cNvGrpSpPr/>
          <p:nvPr/>
        </p:nvGrpSpPr>
        <p:grpSpPr>
          <a:xfrm rot="0">
            <a:off x="1257119" y="9534782"/>
            <a:ext cx="13997883" cy="772744"/>
            <a:chOff x="0" y="0"/>
            <a:chExt cx="18663844" cy="1030326"/>
          </a:xfrm>
        </p:grpSpPr>
        <p:sp>
          <p:nvSpPr>
            <p:cNvPr name="Freeform 15" id="15"/>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16" id="16"/>
          <p:cNvGrpSpPr/>
          <p:nvPr/>
        </p:nvGrpSpPr>
        <p:grpSpPr>
          <a:xfrm rot="0">
            <a:off x="2555281" y="606962"/>
            <a:ext cx="13716000" cy="1083780"/>
            <a:chOff x="0" y="0"/>
            <a:chExt cx="18288000" cy="1445040"/>
          </a:xfrm>
        </p:grpSpPr>
        <p:sp>
          <p:nvSpPr>
            <p:cNvPr name="Freeform 17" id="17"/>
            <p:cNvSpPr/>
            <p:nvPr/>
          </p:nvSpPr>
          <p:spPr>
            <a:xfrm flipH="false" flipV="false" rot="0">
              <a:off x="0" y="0"/>
              <a:ext cx="18288000" cy="1445036"/>
            </a:xfrm>
            <a:custGeom>
              <a:avLst/>
              <a:gdLst/>
              <a:ahLst/>
              <a:cxnLst/>
              <a:rect r="r" b="b" t="t" l="l"/>
              <a:pathLst>
                <a:path h="1445036" w="18288000">
                  <a:moveTo>
                    <a:pt x="0" y="0"/>
                  </a:moveTo>
                  <a:lnTo>
                    <a:pt x="18288000" y="0"/>
                  </a:lnTo>
                  <a:lnTo>
                    <a:pt x="18288000" y="1445036"/>
                  </a:lnTo>
                  <a:lnTo>
                    <a:pt x="0" y="1445036"/>
                  </a:lnTo>
                  <a:close/>
                </a:path>
              </a:pathLst>
            </a:custGeom>
            <a:blipFill>
              <a:blip r:embed="rId4">
                <a:alphaModFix amt="0"/>
              </a:blip>
              <a:stretch>
                <a:fillRect l="0" t="-196597" r="0" b="-196597"/>
              </a:stretch>
            </a:blipFill>
          </p:spPr>
        </p:sp>
        <p:sp>
          <p:nvSpPr>
            <p:cNvPr name="TextBox 18" id="18"/>
            <p:cNvSpPr txBox="true"/>
            <p:nvPr/>
          </p:nvSpPr>
          <p:spPr>
            <a:xfrm>
              <a:off x="0" y="28575"/>
              <a:ext cx="18288000" cy="1416465"/>
            </a:xfrm>
            <a:prstGeom prst="rect">
              <a:avLst/>
            </a:prstGeom>
          </p:spPr>
          <p:txBody>
            <a:bodyPr anchor="b" rtlCol="false" tIns="0" lIns="0" bIns="0" rIns="0"/>
            <a:lstStyle/>
            <a:p>
              <a:pPr algn="ctr">
                <a:lnSpc>
                  <a:spcPts val="5832"/>
                </a:lnSpc>
              </a:pPr>
              <a:r>
                <a:rPr lang="en-US" sz="5400" b="true">
                  <a:solidFill>
                    <a:srgbClr val="000000"/>
                  </a:solidFill>
                  <a:latin typeface="Times New Roman Bold"/>
                  <a:ea typeface="Times New Roman Bold"/>
                  <a:cs typeface="Times New Roman Bold"/>
                  <a:sym typeface="Times New Roman Bold"/>
                </a:rPr>
                <a:t>Problem Definition </a:t>
              </a:r>
            </a:p>
          </p:txBody>
        </p:sp>
      </p:grpSp>
      <p:sp>
        <p:nvSpPr>
          <p:cNvPr name="TextBox 19" id="19"/>
          <p:cNvSpPr txBox="true"/>
          <p:nvPr/>
        </p:nvSpPr>
        <p:spPr>
          <a:xfrm rot="0">
            <a:off x="628831" y="2443163"/>
            <a:ext cx="17226363" cy="5372100"/>
          </a:xfrm>
          <a:prstGeom prst="rect">
            <a:avLst/>
          </a:prstGeom>
        </p:spPr>
        <p:txBody>
          <a:bodyPr anchor="t" rtlCol="false" tIns="0" lIns="0" bIns="0" rIns="0">
            <a:spAutoFit/>
          </a:bodyPr>
          <a:lstStyle/>
          <a:p>
            <a:pPr algn="just">
              <a:lnSpc>
                <a:spcPts val="3839"/>
              </a:lnSpc>
            </a:pPr>
            <a:r>
              <a:rPr lang="en-US" sz="3199">
                <a:solidFill>
                  <a:srgbClr val="000000"/>
                </a:solidFill>
                <a:latin typeface="Times New Roman"/>
                <a:ea typeface="Times New Roman"/>
                <a:cs typeface="Times New Roman"/>
                <a:sym typeface="Times New Roman"/>
              </a:rPr>
              <a:t>Chandrapur district in Maharashtra experiences significant seasonal rainfall during the monsoon; however, groundwater depletion and uneven water availability remain major concerns. Rapid urban expansion, increasing industrial activity, and surface runoff from impervious areas reduce natural groundwater recharge. A large portion of rainwater is lost due to the absence of scientifically planned rainwater harvesting systems.</a:t>
            </a:r>
          </a:p>
          <a:p>
            <a:pPr algn="just">
              <a:lnSpc>
                <a:spcPts val="3839"/>
              </a:lnSpc>
            </a:pPr>
            <a:r>
              <a:rPr lang="en-US" sz="3199">
                <a:solidFill>
                  <a:srgbClr val="000000"/>
                </a:solidFill>
                <a:latin typeface="Times New Roman"/>
                <a:ea typeface="Times New Roman"/>
                <a:cs typeface="Times New Roman"/>
                <a:sym typeface="Times New Roman"/>
              </a:rPr>
              <a:t>Traditional site selection methods are not sufficient because they do not integrate critical spatial factors such as slope, soil type, rainfall distribution, and land use patterns. Therefore, a GIS-based suitability analysis is required to systematically identify optimal rainwater harvesting zones in Chandrapur using spatial modeling techniques.</a:t>
            </a:r>
          </a:p>
          <a:p>
            <a:pPr algn="just">
              <a:lnSpc>
                <a:spcPts val="3839"/>
              </a:lnSpc>
            </a:pPr>
          </a:p>
          <a:p>
            <a:pPr algn="just">
              <a:lnSpc>
                <a:spcPts val="3839"/>
              </a:lnSpc>
            </a:pP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6421106" y="625246"/>
            <a:ext cx="5445789" cy="1520571"/>
          </a:xfrm>
          <a:prstGeom prst="rect">
            <a:avLst/>
          </a:prstGeom>
        </p:spPr>
        <p:txBody>
          <a:bodyPr anchor="t" rtlCol="false" tIns="0" lIns="0" bIns="0" rIns="0">
            <a:spAutoFit/>
          </a:bodyPr>
          <a:lstStyle/>
          <a:p>
            <a:pPr algn="ctr">
              <a:lnSpc>
                <a:spcPts val="5832"/>
              </a:lnSpc>
            </a:pPr>
            <a:r>
              <a:rPr lang="en-US" sz="5400" b="true">
                <a:solidFill>
                  <a:srgbClr val="000000"/>
                </a:solidFill>
                <a:latin typeface="Times New Roman Bold"/>
                <a:ea typeface="Times New Roman Bold"/>
                <a:cs typeface="Times New Roman Bold"/>
                <a:sym typeface="Times New Roman Bold"/>
              </a:rPr>
              <a:t>Motivation</a:t>
            </a:r>
          </a:p>
          <a:p>
            <a:pPr algn="ctr">
              <a:lnSpc>
                <a:spcPts val="5832"/>
              </a:lnSpc>
              <a:spcBef>
                <a:spcPct val="0"/>
              </a:spcBef>
            </a:pPr>
          </a:p>
        </p:txBody>
      </p:sp>
      <p:sp>
        <p:nvSpPr>
          <p:cNvPr name="TextBox 13" id="13"/>
          <p:cNvSpPr txBox="true"/>
          <p:nvPr/>
        </p:nvSpPr>
        <p:spPr>
          <a:xfrm rot="0">
            <a:off x="629545" y="1770585"/>
            <a:ext cx="17659169" cy="8536942"/>
          </a:xfrm>
          <a:prstGeom prst="rect">
            <a:avLst/>
          </a:prstGeom>
        </p:spPr>
        <p:txBody>
          <a:bodyPr anchor="t" rtlCol="false" tIns="0" lIns="0" bIns="0" rIns="0">
            <a:spAutoFit/>
          </a:bodyPr>
          <a:lstStyle/>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Chan</a:t>
            </a:r>
            <a:r>
              <a:rPr lang="en-US" sz="3239">
                <a:solidFill>
                  <a:srgbClr val="000000"/>
                </a:solidFill>
                <a:latin typeface="Times New Roman"/>
                <a:ea typeface="Times New Roman"/>
                <a:cs typeface="Times New Roman"/>
                <a:sym typeface="Times New Roman"/>
              </a:rPr>
              <a:t>drapur district receives significant rainfall during monsoon, but large amounts of rainwater are lost as surface runoff.</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Groundwater levels are declining due to urbanization, industrial growth, and reduced natural recharge.</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Traditional methods of selecting rainwater harvesting sites are not scientific and ignore important spatial factors.</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GIS technology enables integration of slope, soil, rainfall, land use, and drainage data for accurate decision-making.</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A data-driven approach can help planners identify optimal locations for rainwater harvesting.</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The project promotes sustainable water resource management and environmental conservation.</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Availability of open-source geospatial datasets such as DEM, rainfall data, soil maps, and land use data enables detailed analysis.</a:t>
            </a:r>
          </a:p>
          <a:p>
            <a:pPr algn="l" marL="699394" indent="-349697" lvl="1">
              <a:lnSpc>
                <a:spcPts val="4535"/>
              </a:lnSpc>
              <a:buFont typeface="Arial"/>
              <a:buChar char="•"/>
            </a:pPr>
            <a:r>
              <a:rPr lang="en-US" sz="3239">
                <a:solidFill>
                  <a:srgbClr val="000000"/>
                </a:solidFill>
                <a:latin typeface="Times New Roman"/>
                <a:ea typeface="Times New Roman"/>
                <a:cs typeface="Times New Roman"/>
                <a:sym typeface="Times New Roman"/>
              </a:rPr>
              <a:t>Government and remote sensing platforms (like satellite imagery and GIS databases) provide reliable spatial data.</a:t>
            </a:r>
          </a:p>
          <a:p>
            <a:pPr algn="l">
              <a:lnSpc>
                <a:spcPts val="4535"/>
              </a:lnSpc>
            </a:pPr>
          </a:p>
          <a:p>
            <a:pPr algn="l">
              <a:lnSpc>
                <a:spcPts val="4535"/>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6155770" y="1014884"/>
            <a:ext cx="6823174"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Necessity </a:t>
            </a:r>
            <a:r>
              <a:rPr lang="en-US" b="true" sz="5400">
                <a:solidFill>
                  <a:srgbClr val="000000"/>
                </a:solidFill>
                <a:latin typeface="Times New Roman Bold"/>
                <a:ea typeface="Times New Roman Bold"/>
                <a:cs typeface="Times New Roman Bold"/>
                <a:sym typeface="Times New Roman Bold"/>
              </a:rPr>
              <a:t>of the Project</a:t>
            </a:r>
          </a:p>
        </p:txBody>
      </p:sp>
      <p:sp>
        <p:nvSpPr>
          <p:cNvPr name="TextBox 13" id="13"/>
          <p:cNvSpPr txBox="true"/>
          <p:nvPr/>
        </p:nvSpPr>
        <p:spPr>
          <a:xfrm rot="0">
            <a:off x="628564" y="2662788"/>
            <a:ext cx="16855988" cy="54000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Increasing water scarcity in Chandrapur despite adequate rainfall.</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Uneven distribution of groundwater resources across the region.</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Lack of scientifically planned rainwater harvesting structures.</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Need for integration of multiple environmental parameters for accurate site selection.</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GIS-based suitability analysis helps reduce runoff losses and improve groundwater recharge.</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Supports government water conservation initiatives and sustainable development planning.</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Provides decision-support tool for planners and local authorities.</a:t>
            </a:r>
          </a:p>
          <a:p>
            <a:pPr algn="l">
              <a:lnSpc>
                <a:spcPts val="4759"/>
              </a:lnSpc>
            </a:pPr>
          </a:p>
          <a:p>
            <a:pPr algn="l">
              <a:lnSpc>
                <a:spcPts val="4759"/>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2286000" y="279178"/>
            <a:ext cx="13716000" cy="1111863"/>
            <a:chOff x="0" y="0"/>
            <a:chExt cx="18288000" cy="1482484"/>
          </a:xfrm>
        </p:grpSpPr>
        <p:sp>
          <p:nvSpPr>
            <p:cNvPr name="Freeform 13" id="13"/>
            <p:cNvSpPr/>
            <p:nvPr/>
          </p:nvSpPr>
          <p:spPr>
            <a:xfrm flipH="false" flipV="false" rot="0">
              <a:off x="0" y="0"/>
              <a:ext cx="18288000" cy="1482478"/>
            </a:xfrm>
            <a:custGeom>
              <a:avLst/>
              <a:gdLst/>
              <a:ahLst/>
              <a:cxnLst/>
              <a:rect r="r" b="b" t="t" l="l"/>
              <a:pathLst>
                <a:path h="1482478" w="18288000">
                  <a:moveTo>
                    <a:pt x="0" y="0"/>
                  </a:moveTo>
                  <a:lnTo>
                    <a:pt x="18288000" y="0"/>
                  </a:lnTo>
                  <a:lnTo>
                    <a:pt x="18288000" y="1482478"/>
                  </a:lnTo>
                  <a:lnTo>
                    <a:pt x="0" y="1482478"/>
                  </a:lnTo>
                  <a:close/>
                </a:path>
              </a:pathLst>
            </a:custGeom>
            <a:blipFill>
              <a:blip r:embed="rId4">
                <a:alphaModFix amt="0"/>
              </a:blip>
              <a:stretch>
                <a:fillRect l="0" t="-203968" r="0" b="-176770"/>
              </a:stretch>
            </a:blipFill>
          </p:spPr>
        </p:sp>
        <p:sp>
          <p:nvSpPr>
            <p:cNvPr name="TextBox 14" id="14"/>
            <p:cNvSpPr txBox="true"/>
            <p:nvPr/>
          </p:nvSpPr>
          <p:spPr>
            <a:xfrm>
              <a:off x="0" y="85725"/>
              <a:ext cx="18288000" cy="1396759"/>
            </a:xfrm>
            <a:prstGeom prst="rect">
              <a:avLst/>
            </a:prstGeom>
          </p:spPr>
          <p:txBody>
            <a:bodyPr anchor="b" rtlCol="false" tIns="0" lIns="0" bIns="0" rIns="0"/>
            <a:lstStyle/>
            <a:p>
              <a:pPr algn="ctr">
                <a:lnSpc>
                  <a:spcPts val="5248"/>
                </a:lnSpc>
              </a:pPr>
              <a:r>
                <a:rPr lang="en-US" sz="5400" b="true">
                  <a:solidFill>
                    <a:srgbClr val="000000"/>
                  </a:solidFill>
                  <a:latin typeface="Times New Roman Bold"/>
                  <a:ea typeface="Times New Roman Bold"/>
                  <a:cs typeface="Times New Roman Bold"/>
                  <a:sym typeface="Times New Roman Bold"/>
                </a:rPr>
                <a:t>Literature Review</a:t>
              </a:r>
            </a:p>
          </p:txBody>
        </p:sp>
      </p:grpSp>
      <p:graphicFrame>
        <p:nvGraphicFramePr>
          <p:cNvPr name="Object 15" id="15"/>
          <p:cNvGraphicFramePr/>
          <p:nvPr/>
        </p:nvGraphicFramePr>
        <p:xfrm>
          <a:off x="628831" y="1830801"/>
          <a:ext cx="7543800" cy="5657850"/>
        </p:xfrm>
        <a:graphic>
          <a:graphicData uri="http://schemas.openxmlformats.org/presentationml/2006/ole">
            <p:oleObj imgW="9042400" imgH="7162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2370481" y="279178"/>
            <a:ext cx="13716000" cy="1111863"/>
            <a:chOff x="0" y="0"/>
            <a:chExt cx="18288000" cy="1482484"/>
          </a:xfrm>
        </p:grpSpPr>
        <p:sp>
          <p:nvSpPr>
            <p:cNvPr name="Freeform 13" id="13"/>
            <p:cNvSpPr/>
            <p:nvPr/>
          </p:nvSpPr>
          <p:spPr>
            <a:xfrm flipH="false" flipV="false" rot="0">
              <a:off x="0" y="0"/>
              <a:ext cx="18288000" cy="1482478"/>
            </a:xfrm>
            <a:custGeom>
              <a:avLst/>
              <a:gdLst/>
              <a:ahLst/>
              <a:cxnLst/>
              <a:rect r="r" b="b" t="t" l="l"/>
              <a:pathLst>
                <a:path h="1482478" w="18288000">
                  <a:moveTo>
                    <a:pt x="0" y="0"/>
                  </a:moveTo>
                  <a:lnTo>
                    <a:pt x="18288000" y="0"/>
                  </a:lnTo>
                  <a:lnTo>
                    <a:pt x="18288000" y="1482478"/>
                  </a:lnTo>
                  <a:lnTo>
                    <a:pt x="0" y="1482478"/>
                  </a:lnTo>
                  <a:close/>
                </a:path>
              </a:pathLst>
            </a:custGeom>
            <a:blipFill>
              <a:blip r:embed="rId4">
                <a:alphaModFix amt="0"/>
              </a:blip>
              <a:stretch>
                <a:fillRect l="0" t="-203968" r="0" b="-176770"/>
              </a:stretch>
            </a:blipFill>
          </p:spPr>
        </p:sp>
        <p:sp>
          <p:nvSpPr>
            <p:cNvPr name="TextBox 14" id="14"/>
            <p:cNvSpPr txBox="true"/>
            <p:nvPr/>
          </p:nvSpPr>
          <p:spPr>
            <a:xfrm>
              <a:off x="0" y="85725"/>
              <a:ext cx="18288000" cy="1396759"/>
            </a:xfrm>
            <a:prstGeom prst="rect">
              <a:avLst/>
            </a:prstGeom>
          </p:spPr>
          <p:txBody>
            <a:bodyPr anchor="b" rtlCol="false" tIns="0" lIns="0" bIns="0" rIns="0"/>
            <a:lstStyle/>
            <a:p>
              <a:pPr algn="ctr">
                <a:lnSpc>
                  <a:spcPts val="5248"/>
                </a:lnSpc>
              </a:pPr>
              <a:r>
                <a:rPr lang="en-US" sz="5400" b="true">
                  <a:solidFill>
                    <a:srgbClr val="000000"/>
                  </a:solidFill>
                  <a:latin typeface="Times New Roman Bold"/>
                  <a:ea typeface="Times New Roman Bold"/>
                  <a:cs typeface="Times New Roman Bold"/>
                  <a:sym typeface="Times New Roman Bold"/>
                </a:rPr>
                <a:t>Literature Review</a:t>
              </a:r>
            </a:p>
          </p:txBody>
        </p:sp>
      </p:grpSp>
      <p:graphicFrame>
        <p:nvGraphicFramePr>
          <p:cNvPr name="Object 15" id="15"/>
          <p:cNvGraphicFramePr/>
          <p:nvPr/>
        </p:nvGraphicFramePr>
        <p:xfrm>
          <a:off x="628831" y="1644785"/>
          <a:ext cx="7543800" cy="5657850"/>
        </p:xfrm>
        <a:graphic>
          <a:graphicData uri="http://schemas.openxmlformats.org/presentationml/2006/ole">
            <p:oleObj imgW="9042400" imgH="7162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2285819" y="581577"/>
            <a:ext cx="13716000" cy="1111863"/>
            <a:chOff x="0" y="0"/>
            <a:chExt cx="18288000" cy="1482484"/>
          </a:xfrm>
        </p:grpSpPr>
        <p:sp>
          <p:nvSpPr>
            <p:cNvPr name="Freeform 13" id="13"/>
            <p:cNvSpPr/>
            <p:nvPr/>
          </p:nvSpPr>
          <p:spPr>
            <a:xfrm flipH="false" flipV="false" rot="0">
              <a:off x="0" y="0"/>
              <a:ext cx="18288000" cy="1482478"/>
            </a:xfrm>
            <a:custGeom>
              <a:avLst/>
              <a:gdLst/>
              <a:ahLst/>
              <a:cxnLst/>
              <a:rect r="r" b="b" t="t" l="l"/>
              <a:pathLst>
                <a:path h="1482478" w="18288000">
                  <a:moveTo>
                    <a:pt x="0" y="0"/>
                  </a:moveTo>
                  <a:lnTo>
                    <a:pt x="18288000" y="0"/>
                  </a:lnTo>
                  <a:lnTo>
                    <a:pt x="18288000" y="1482478"/>
                  </a:lnTo>
                  <a:lnTo>
                    <a:pt x="0" y="1482478"/>
                  </a:lnTo>
                  <a:close/>
                </a:path>
              </a:pathLst>
            </a:custGeom>
            <a:blipFill>
              <a:blip r:embed="rId4">
                <a:alphaModFix amt="0"/>
              </a:blip>
              <a:stretch>
                <a:fillRect l="0" t="-203968" r="0" b="-176770"/>
              </a:stretch>
            </a:blipFill>
          </p:spPr>
        </p:sp>
        <p:sp>
          <p:nvSpPr>
            <p:cNvPr name="TextBox 14" id="14"/>
            <p:cNvSpPr txBox="true"/>
            <p:nvPr/>
          </p:nvSpPr>
          <p:spPr>
            <a:xfrm>
              <a:off x="0" y="85725"/>
              <a:ext cx="18288000" cy="1396759"/>
            </a:xfrm>
            <a:prstGeom prst="rect">
              <a:avLst/>
            </a:prstGeom>
          </p:spPr>
          <p:txBody>
            <a:bodyPr anchor="b" rtlCol="false" tIns="0" lIns="0" bIns="0" rIns="0"/>
            <a:lstStyle/>
            <a:p>
              <a:pPr algn="ctr">
                <a:lnSpc>
                  <a:spcPts val="5248"/>
                </a:lnSpc>
              </a:pPr>
              <a:r>
                <a:rPr lang="en-US" sz="5400" b="true">
                  <a:solidFill>
                    <a:srgbClr val="000000"/>
                  </a:solidFill>
                  <a:latin typeface="Times New Roman Bold"/>
                  <a:ea typeface="Times New Roman Bold"/>
                  <a:cs typeface="Times New Roman Bold"/>
                  <a:sym typeface="Times New Roman Bold"/>
                </a:rPr>
                <a:t>Literature Review</a:t>
              </a:r>
            </a:p>
          </p:txBody>
        </p:sp>
      </p:grpSp>
      <p:graphicFrame>
        <p:nvGraphicFramePr>
          <p:cNvPr name="Object 15" id="15"/>
          <p:cNvGraphicFramePr/>
          <p:nvPr/>
        </p:nvGraphicFramePr>
        <p:xfrm>
          <a:off x="628564" y="2059792"/>
          <a:ext cx="7543800" cy="5657850"/>
        </p:xfrm>
        <a:graphic>
          <a:graphicData uri="http://schemas.openxmlformats.org/presentationml/2006/ole">
            <p:oleObj imgW="9042400" imgH="7162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2815594" y="448085"/>
            <a:ext cx="13716000" cy="1076448"/>
            <a:chOff x="0" y="0"/>
            <a:chExt cx="18288000" cy="1435264"/>
          </a:xfrm>
        </p:grpSpPr>
        <p:sp>
          <p:nvSpPr>
            <p:cNvPr name="Freeform 13" id="13"/>
            <p:cNvSpPr/>
            <p:nvPr/>
          </p:nvSpPr>
          <p:spPr>
            <a:xfrm flipH="false" flipV="false" rot="0">
              <a:off x="0" y="0"/>
              <a:ext cx="18288000" cy="1435258"/>
            </a:xfrm>
            <a:custGeom>
              <a:avLst/>
              <a:gdLst/>
              <a:ahLst/>
              <a:cxnLst/>
              <a:rect r="r" b="b" t="t" l="l"/>
              <a:pathLst>
                <a:path h="1435258" w="18288000">
                  <a:moveTo>
                    <a:pt x="0" y="0"/>
                  </a:moveTo>
                  <a:lnTo>
                    <a:pt x="18288000" y="0"/>
                  </a:lnTo>
                  <a:lnTo>
                    <a:pt x="18288000" y="1435258"/>
                  </a:lnTo>
                  <a:lnTo>
                    <a:pt x="0" y="1435258"/>
                  </a:lnTo>
                  <a:close/>
                </a:path>
              </a:pathLst>
            </a:custGeom>
            <a:blipFill>
              <a:blip r:embed="rId4">
                <a:alphaModFix amt="0"/>
              </a:blip>
              <a:stretch>
                <a:fillRect l="0" t="-210678" r="0" b="-185876"/>
              </a:stretch>
            </a:blipFill>
          </p:spPr>
        </p:sp>
        <p:sp>
          <p:nvSpPr>
            <p:cNvPr name="TextBox 14" id="14"/>
            <p:cNvSpPr txBox="true"/>
            <p:nvPr/>
          </p:nvSpPr>
          <p:spPr>
            <a:xfrm>
              <a:off x="0" y="85725"/>
              <a:ext cx="18288000" cy="1349539"/>
            </a:xfrm>
            <a:prstGeom prst="rect">
              <a:avLst/>
            </a:prstGeom>
          </p:spPr>
          <p:txBody>
            <a:bodyPr anchor="b" rtlCol="false" tIns="0" lIns="0" bIns="0" rIns="0"/>
            <a:lstStyle/>
            <a:p>
              <a:pPr algn="ctr">
                <a:lnSpc>
                  <a:spcPts val="5248"/>
                </a:lnSpc>
              </a:pPr>
              <a:r>
                <a:rPr lang="en-US" sz="5400" b="true">
                  <a:solidFill>
                    <a:srgbClr val="000000"/>
                  </a:solidFill>
                  <a:latin typeface="Times New Roman Bold"/>
                  <a:ea typeface="Times New Roman Bold"/>
                  <a:cs typeface="Times New Roman Bold"/>
                  <a:sym typeface="Times New Roman Bold"/>
                </a:rPr>
                <a:t>Scope of the Project</a:t>
              </a:r>
            </a:p>
          </p:txBody>
        </p:sp>
      </p:grpSp>
      <p:sp>
        <p:nvSpPr>
          <p:cNvPr name="TextBox 15" id="15"/>
          <p:cNvSpPr txBox="true"/>
          <p:nvPr/>
        </p:nvSpPr>
        <p:spPr>
          <a:xfrm rot="0">
            <a:off x="10263064" y="1867348"/>
            <a:ext cx="6811194" cy="4991100"/>
          </a:xfrm>
          <a:prstGeom prst="rect">
            <a:avLst/>
          </a:prstGeom>
        </p:spPr>
        <p:txBody>
          <a:bodyPr anchor="t" rtlCol="false" tIns="0" lIns="0" bIns="0" rIns="0">
            <a:spAutoFit/>
          </a:bodyPr>
          <a:lstStyle/>
          <a:p>
            <a:pPr algn="l">
              <a:lnSpc>
                <a:spcPts val="4799"/>
              </a:lnSpc>
            </a:pPr>
            <a:r>
              <a:rPr lang="en-US" sz="3999" b="true">
                <a:solidFill>
                  <a:srgbClr val="000000"/>
                </a:solidFill>
                <a:latin typeface="Times New Roman Bold"/>
                <a:ea typeface="Times New Roman Bold"/>
                <a:cs typeface="Times New Roman Bold"/>
                <a:sym typeface="Times New Roman Bold"/>
              </a:rPr>
              <a:t>Non-Functional Requirements</a:t>
            </a:r>
          </a:p>
          <a:p>
            <a:pPr algn="l">
              <a:lnSpc>
                <a:spcPts val="3840"/>
              </a:lnSpc>
            </a:pPr>
            <a:r>
              <a:rPr lang="en-US" sz="3200">
                <a:solidFill>
                  <a:srgbClr val="000000"/>
                </a:solidFill>
                <a:latin typeface="Times New Roman"/>
                <a:ea typeface="Times New Roman"/>
                <a:cs typeface="Times New Roman"/>
                <a:sym typeface="Times New Roman"/>
              </a:rPr>
              <a:t>The system should:</a:t>
            </a:r>
          </a:p>
          <a:p>
            <a:pPr algn="l" marL="858317" indent="-429159" lvl="1">
              <a:lnSpc>
                <a:spcPts val="3840"/>
              </a:lnSpc>
              <a:buFont typeface="Arial"/>
              <a:buChar char="•"/>
            </a:pPr>
            <a:r>
              <a:rPr lang="en-US" sz="3200">
                <a:solidFill>
                  <a:srgbClr val="000000"/>
                </a:solidFill>
                <a:latin typeface="Times New Roman"/>
                <a:ea typeface="Times New Roman"/>
                <a:cs typeface="Times New Roman"/>
                <a:sym typeface="Times New Roman"/>
              </a:rPr>
              <a:t>Ensure accurate spatial processing.</a:t>
            </a:r>
          </a:p>
          <a:p>
            <a:pPr algn="l" marL="858317" indent="-429159" lvl="1">
              <a:lnSpc>
                <a:spcPts val="3840"/>
              </a:lnSpc>
              <a:buFont typeface="Arial"/>
              <a:buChar char="•"/>
            </a:pPr>
            <a:r>
              <a:rPr lang="en-US" sz="3200">
                <a:solidFill>
                  <a:srgbClr val="000000"/>
                </a:solidFill>
                <a:latin typeface="Times New Roman"/>
                <a:ea typeface="Times New Roman"/>
                <a:cs typeface="Times New Roman"/>
                <a:sym typeface="Times New Roman"/>
              </a:rPr>
              <a:t>Maintain consistent projection and resolution.</a:t>
            </a:r>
          </a:p>
          <a:p>
            <a:pPr algn="l" marL="858317" indent="-429159" lvl="1">
              <a:lnSpc>
                <a:spcPts val="3840"/>
              </a:lnSpc>
              <a:buFont typeface="Arial"/>
              <a:buChar char="•"/>
            </a:pPr>
            <a:r>
              <a:rPr lang="en-US" sz="3200">
                <a:solidFill>
                  <a:srgbClr val="000000"/>
                </a:solidFill>
                <a:latin typeface="Times New Roman"/>
                <a:ea typeface="Times New Roman"/>
                <a:cs typeface="Times New Roman"/>
                <a:sym typeface="Times New Roman"/>
              </a:rPr>
              <a:t>Be easy to interpret and reproducible.</a:t>
            </a:r>
          </a:p>
          <a:p>
            <a:pPr algn="l" marL="858317" indent="-429159" lvl="1">
              <a:lnSpc>
                <a:spcPts val="3840"/>
              </a:lnSpc>
              <a:buFont typeface="Arial"/>
              <a:buChar char="•"/>
            </a:pPr>
            <a:r>
              <a:rPr lang="en-US" sz="3200">
                <a:solidFill>
                  <a:srgbClr val="000000"/>
                </a:solidFill>
                <a:latin typeface="Times New Roman"/>
                <a:ea typeface="Times New Roman"/>
                <a:cs typeface="Times New Roman"/>
                <a:sym typeface="Times New Roman"/>
              </a:rPr>
              <a:t>Efficiently process medium-scale spatial data.</a:t>
            </a:r>
          </a:p>
          <a:p>
            <a:pPr algn="l">
              <a:lnSpc>
                <a:spcPts val="3840"/>
              </a:lnSpc>
            </a:pPr>
          </a:p>
        </p:txBody>
      </p:sp>
      <p:sp>
        <p:nvSpPr>
          <p:cNvPr name="TextBox 16" id="16"/>
          <p:cNvSpPr txBox="true"/>
          <p:nvPr/>
        </p:nvSpPr>
        <p:spPr>
          <a:xfrm rot="0">
            <a:off x="1028700" y="1867348"/>
            <a:ext cx="8947499" cy="1104900"/>
          </a:xfrm>
          <a:prstGeom prst="rect">
            <a:avLst/>
          </a:prstGeom>
        </p:spPr>
        <p:txBody>
          <a:bodyPr anchor="t" rtlCol="false" tIns="0" lIns="0" bIns="0" rIns="0">
            <a:spAutoFit/>
          </a:bodyPr>
          <a:lstStyle/>
          <a:p>
            <a:pPr algn="l">
              <a:lnSpc>
                <a:spcPts val="4799"/>
              </a:lnSpc>
            </a:pPr>
            <a:r>
              <a:rPr lang="en-US" sz="3999" b="true">
                <a:solidFill>
                  <a:srgbClr val="000000"/>
                </a:solidFill>
                <a:latin typeface="Times New Roman Bold"/>
                <a:ea typeface="Times New Roman Bold"/>
                <a:cs typeface="Times New Roman Bold"/>
                <a:sym typeface="Times New Roman Bold"/>
              </a:rPr>
              <a:t>Functional Requirements</a:t>
            </a:r>
          </a:p>
          <a:p>
            <a:pPr algn="l">
              <a:lnSpc>
                <a:spcPts val="3840"/>
              </a:lnSpc>
            </a:pPr>
          </a:p>
        </p:txBody>
      </p:sp>
      <p:sp>
        <p:nvSpPr>
          <p:cNvPr name="TextBox 17" id="17"/>
          <p:cNvSpPr txBox="true"/>
          <p:nvPr/>
        </p:nvSpPr>
        <p:spPr>
          <a:xfrm rot="0">
            <a:off x="628564" y="2471738"/>
            <a:ext cx="9045029" cy="5314950"/>
          </a:xfrm>
          <a:prstGeom prst="rect">
            <a:avLst/>
          </a:prstGeom>
        </p:spPr>
        <p:txBody>
          <a:bodyPr anchor="t" rtlCol="false" tIns="0" lIns="0" bIns="0" rIns="0">
            <a:spAutoFit/>
          </a:bodyPr>
          <a:lstStyle/>
          <a:p>
            <a:pPr algn="l">
              <a:lnSpc>
                <a:spcPts val="3840"/>
              </a:lnSpc>
            </a:pPr>
            <a:r>
              <a:rPr lang="en-US" sz="3200">
                <a:solidFill>
                  <a:srgbClr val="000000"/>
                </a:solidFill>
                <a:latin typeface="Times New Roman"/>
                <a:ea typeface="Times New Roman"/>
                <a:cs typeface="Times New Roman"/>
                <a:sym typeface="Times New Roman"/>
              </a:rPr>
              <a:t>The system will:</a:t>
            </a:r>
          </a:p>
          <a:p>
            <a:pPr algn="l" marL="690881" indent="-345440" lvl="1">
              <a:lnSpc>
                <a:spcPts val="3840"/>
              </a:lnSpc>
              <a:buFont typeface="Arial"/>
              <a:buChar char="•"/>
            </a:pPr>
            <a:r>
              <a:rPr lang="en-US" sz="3200">
                <a:solidFill>
                  <a:srgbClr val="000000"/>
                </a:solidFill>
                <a:latin typeface="Times New Roman"/>
                <a:ea typeface="Times New Roman"/>
                <a:cs typeface="Times New Roman"/>
                <a:sym typeface="Times New Roman"/>
              </a:rPr>
              <a:t>Collect and integrate spatial datasets of Chandrapur.</a:t>
            </a:r>
          </a:p>
          <a:p>
            <a:pPr algn="l" marL="690881" indent="-345440" lvl="1">
              <a:lnSpc>
                <a:spcPts val="3840"/>
              </a:lnSpc>
              <a:buFont typeface="Arial"/>
              <a:buChar char="•"/>
            </a:pPr>
            <a:r>
              <a:rPr lang="en-US" sz="3200">
                <a:solidFill>
                  <a:srgbClr val="000000"/>
                </a:solidFill>
                <a:latin typeface="Times New Roman"/>
                <a:ea typeface="Times New Roman"/>
                <a:cs typeface="Times New Roman"/>
                <a:sym typeface="Times New Roman"/>
              </a:rPr>
              <a:t>Generate thematic layers (slope, soil, rainfall, LULC, drainage).</a:t>
            </a:r>
          </a:p>
          <a:p>
            <a:pPr algn="l" marL="690881" indent="-345440" lvl="1">
              <a:lnSpc>
                <a:spcPts val="3840"/>
              </a:lnSpc>
              <a:buFont typeface="Arial"/>
              <a:buChar char="•"/>
            </a:pPr>
            <a:r>
              <a:rPr lang="en-US" sz="3200">
                <a:solidFill>
                  <a:srgbClr val="000000"/>
                </a:solidFill>
                <a:latin typeface="Times New Roman"/>
                <a:ea typeface="Times New Roman"/>
                <a:cs typeface="Times New Roman"/>
                <a:sym typeface="Times New Roman"/>
              </a:rPr>
              <a:t>Reclassify parameters into suitability categories.</a:t>
            </a:r>
          </a:p>
          <a:p>
            <a:pPr algn="l" marL="690881" indent="-345440" lvl="1">
              <a:lnSpc>
                <a:spcPts val="3840"/>
              </a:lnSpc>
              <a:buFont typeface="Arial"/>
              <a:buChar char="•"/>
            </a:pPr>
            <a:r>
              <a:rPr lang="en-US" sz="3200">
                <a:solidFill>
                  <a:srgbClr val="000000"/>
                </a:solidFill>
                <a:latin typeface="Times New Roman"/>
                <a:ea typeface="Times New Roman"/>
                <a:cs typeface="Times New Roman"/>
                <a:sym typeface="Times New Roman"/>
              </a:rPr>
              <a:t>Assign weights using MCDA.</a:t>
            </a:r>
          </a:p>
          <a:p>
            <a:pPr algn="l" marL="690881" indent="-345440" lvl="1">
              <a:lnSpc>
                <a:spcPts val="3840"/>
              </a:lnSpc>
              <a:buFont typeface="Arial"/>
              <a:buChar char="•"/>
            </a:pPr>
            <a:r>
              <a:rPr lang="en-US" sz="3200">
                <a:solidFill>
                  <a:srgbClr val="000000"/>
                </a:solidFill>
                <a:latin typeface="Times New Roman"/>
                <a:ea typeface="Times New Roman"/>
                <a:cs typeface="Times New Roman"/>
                <a:sym typeface="Times New Roman"/>
              </a:rPr>
              <a:t>Perform weighted overlay analysis.</a:t>
            </a:r>
          </a:p>
          <a:p>
            <a:pPr algn="l" marL="690881" indent="-345440" lvl="1">
              <a:lnSpc>
                <a:spcPts val="3840"/>
              </a:lnSpc>
              <a:buFont typeface="Arial"/>
              <a:buChar char="•"/>
            </a:pPr>
            <a:r>
              <a:rPr lang="en-US" sz="3200">
                <a:solidFill>
                  <a:srgbClr val="000000"/>
                </a:solidFill>
                <a:latin typeface="Times New Roman"/>
                <a:ea typeface="Times New Roman"/>
                <a:cs typeface="Times New Roman"/>
                <a:sym typeface="Times New Roman"/>
              </a:rPr>
              <a:t>Produce final rainwater harvesting suitability map.</a:t>
            </a:r>
          </a:p>
          <a:p>
            <a:pPr algn="l">
              <a:lnSpc>
                <a:spcPts val="3840"/>
              </a:lnSpc>
            </a:pPr>
          </a:p>
          <a:p>
            <a:pPr algn="l">
              <a:lnSpc>
                <a:spcPts val="3441"/>
              </a:lnSpc>
            </a:pP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6866893" y="629231"/>
            <a:ext cx="5121399" cy="787146"/>
          </a:xfrm>
          <a:prstGeom prst="rect">
            <a:avLst/>
          </a:prstGeom>
        </p:spPr>
        <p:txBody>
          <a:bodyPr anchor="t" rtlCol="false" tIns="0" lIns="0" bIns="0" rIns="0">
            <a:spAutoFit/>
          </a:bodyPr>
          <a:lstStyle/>
          <a:p>
            <a:pPr algn="ctr">
              <a:lnSpc>
                <a:spcPts val="5832"/>
              </a:lnSpc>
            </a:pPr>
            <a:r>
              <a:rPr lang="en-US" sz="5400" b="true">
                <a:solidFill>
                  <a:srgbClr val="000000"/>
                </a:solidFill>
                <a:latin typeface="Times New Roman Bold"/>
                <a:ea typeface="Times New Roman Bold"/>
                <a:cs typeface="Times New Roman Bold"/>
                <a:sym typeface="Times New Roman Bold"/>
              </a:rPr>
              <a:t>Project Overview</a:t>
            </a:r>
          </a:p>
        </p:txBody>
      </p:sp>
      <p:sp>
        <p:nvSpPr>
          <p:cNvPr name="TextBox 13" id="13"/>
          <p:cNvSpPr txBox="true"/>
          <p:nvPr/>
        </p:nvSpPr>
        <p:spPr>
          <a:xfrm rot="0">
            <a:off x="202169" y="2231941"/>
            <a:ext cx="17883662" cy="6191250"/>
          </a:xfrm>
          <a:prstGeom prst="rect">
            <a:avLst/>
          </a:prstGeom>
        </p:spPr>
        <p:txBody>
          <a:bodyPr anchor="t" rtlCol="false" tIns="0" lIns="0" bIns="0" rIns="0">
            <a:spAutoFit/>
          </a:bodyPr>
          <a:lstStyle/>
          <a:p>
            <a:pPr algn="l">
              <a:lnSpc>
                <a:spcPts val="4080"/>
              </a:lnSpc>
            </a:pPr>
            <a:r>
              <a:rPr lang="en-US" sz="3400">
                <a:solidFill>
                  <a:srgbClr val="000000"/>
                </a:solidFill>
                <a:latin typeface="Times New Roman"/>
                <a:ea typeface="Times New Roman"/>
                <a:cs typeface="Times New Roman"/>
                <a:sym typeface="Times New Roman"/>
              </a:rPr>
              <a:t>The proposed project, “Suitability Analysis for Rainwater Harvesting Site Using GIS – Chandrapur Region,” aims to identify optimal locations for rainwater harvesting using geospatial analysis techniques. The system integrates multiple environmental and spatial parameters such as slope, soil type, rainfall distribution, land use/land cover, and drainage network to evaluate groundwater recharge potential.</a:t>
            </a:r>
          </a:p>
          <a:p>
            <a:pPr algn="l">
              <a:lnSpc>
                <a:spcPts val="4080"/>
              </a:lnSpc>
            </a:pPr>
            <a:r>
              <a:rPr lang="en-US" sz="3400">
                <a:solidFill>
                  <a:srgbClr val="000000"/>
                </a:solidFill>
                <a:latin typeface="Times New Roman"/>
                <a:ea typeface="Times New Roman"/>
                <a:cs typeface="Times New Roman"/>
                <a:sym typeface="Times New Roman"/>
              </a:rPr>
              <a:t>Using GIS-based Multi-Criteria Decision Analysis (MCDA) and weighted overlay methods, the project generates a suitability map classifying areas into highly suitable, moderately suitable, and less suitable zones for rainwater harvesting.</a:t>
            </a:r>
          </a:p>
          <a:p>
            <a:pPr algn="l">
              <a:lnSpc>
                <a:spcPts val="4080"/>
              </a:lnSpc>
            </a:pPr>
            <a:r>
              <a:rPr lang="en-US" sz="3400">
                <a:solidFill>
                  <a:srgbClr val="000000"/>
                </a:solidFill>
                <a:latin typeface="Times New Roman"/>
                <a:ea typeface="Times New Roman"/>
                <a:cs typeface="Times New Roman"/>
                <a:sym typeface="Times New Roman"/>
              </a:rPr>
              <a:t>The study supports sustainable water resource management in Chandrapur by providing a scientific, data-driven decision support framework that can assist planners, local authorities, and environmental agencies in effective water conservation planning.</a:t>
            </a:r>
          </a:p>
          <a:p>
            <a:pPr algn="l">
              <a:lnSpc>
                <a:spcPts val="4080"/>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7021670" y="0"/>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91156" y="36403"/>
            <a:ext cx="2476072" cy="809463"/>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1257119" y="9534782"/>
            <a:ext cx="13997883" cy="772744"/>
            <a:chOff x="0" y="0"/>
            <a:chExt cx="18663844" cy="1030326"/>
          </a:xfrm>
        </p:grpSpPr>
        <p:sp>
          <p:nvSpPr>
            <p:cNvPr name="Freeform 13" id="13"/>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14" id="14"/>
          <p:cNvGrpSpPr/>
          <p:nvPr/>
        </p:nvGrpSpPr>
        <p:grpSpPr>
          <a:xfrm rot="0">
            <a:off x="4250739" y="-236652"/>
            <a:ext cx="10068361" cy="1082518"/>
            <a:chOff x="0" y="0"/>
            <a:chExt cx="15335275" cy="1648800"/>
          </a:xfrm>
        </p:grpSpPr>
        <p:sp>
          <p:nvSpPr>
            <p:cNvPr name="Freeform 15" id="15"/>
            <p:cNvSpPr/>
            <p:nvPr/>
          </p:nvSpPr>
          <p:spPr>
            <a:xfrm flipH="false" flipV="false" rot="0">
              <a:off x="0" y="0"/>
              <a:ext cx="15335279" cy="1648797"/>
            </a:xfrm>
            <a:custGeom>
              <a:avLst/>
              <a:gdLst/>
              <a:ahLst/>
              <a:cxnLst/>
              <a:rect r="r" b="b" t="t" l="l"/>
              <a:pathLst>
                <a:path h="1648797" w="15335279">
                  <a:moveTo>
                    <a:pt x="0" y="0"/>
                  </a:moveTo>
                  <a:lnTo>
                    <a:pt x="15335279" y="0"/>
                  </a:lnTo>
                  <a:lnTo>
                    <a:pt x="15335279" y="1648797"/>
                  </a:lnTo>
                  <a:lnTo>
                    <a:pt x="0" y="1648797"/>
                  </a:lnTo>
                  <a:close/>
                </a:path>
              </a:pathLst>
            </a:custGeom>
            <a:blipFill>
              <a:blip r:embed="rId4">
                <a:alphaModFix amt="0"/>
              </a:blip>
              <a:stretch>
                <a:fillRect l="0" t="-131227" r="0" b="-131228"/>
              </a:stretch>
            </a:blipFill>
          </p:spPr>
        </p:sp>
        <p:sp>
          <p:nvSpPr>
            <p:cNvPr name="TextBox 16" id="16"/>
            <p:cNvSpPr txBox="true"/>
            <p:nvPr/>
          </p:nvSpPr>
          <p:spPr>
            <a:xfrm>
              <a:off x="0" y="28575"/>
              <a:ext cx="15335275" cy="1620225"/>
            </a:xfrm>
            <a:prstGeom prst="rect">
              <a:avLst/>
            </a:prstGeom>
          </p:spPr>
          <p:txBody>
            <a:bodyPr anchor="ctr" rtlCol="false" tIns="0" lIns="0" bIns="0" rIns="0"/>
            <a:lstStyle/>
            <a:p>
              <a:pPr algn="ctr">
                <a:lnSpc>
                  <a:spcPts val="4752"/>
                </a:lnSpc>
              </a:pPr>
              <a:r>
                <a:rPr lang="en-US" sz="4400" b="true">
                  <a:solidFill>
                    <a:srgbClr val="000000"/>
                  </a:solidFill>
                  <a:latin typeface="Times New Roman Bold"/>
                  <a:ea typeface="Times New Roman Bold"/>
                  <a:cs typeface="Times New Roman Bold"/>
                  <a:sym typeface="Times New Roman Bold"/>
                </a:rPr>
                <a:t>Workflow Diagram</a:t>
              </a:r>
            </a:p>
          </p:txBody>
        </p:sp>
      </p:grpSp>
      <p:sp>
        <p:nvSpPr>
          <p:cNvPr name="Freeform 17" id="17"/>
          <p:cNvSpPr/>
          <p:nvPr/>
        </p:nvSpPr>
        <p:spPr>
          <a:xfrm flipH="false" flipV="false" rot="0">
            <a:off x="2567229" y="591563"/>
            <a:ext cx="13423218" cy="8943219"/>
          </a:xfrm>
          <a:custGeom>
            <a:avLst/>
            <a:gdLst/>
            <a:ahLst/>
            <a:cxnLst/>
            <a:rect r="r" b="b" t="t" l="l"/>
            <a:pathLst>
              <a:path h="8943219" w="13423218">
                <a:moveTo>
                  <a:pt x="0" y="0"/>
                </a:moveTo>
                <a:lnTo>
                  <a:pt x="13423218" y="0"/>
                </a:lnTo>
                <a:lnTo>
                  <a:pt x="13423218" y="8943219"/>
                </a:lnTo>
                <a:lnTo>
                  <a:pt x="0" y="8943219"/>
                </a:lnTo>
                <a:lnTo>
                  <a:pt x="0" y="0"/>
                </a:lnTo>
                <a:close/>
              </a:path>
            </a:pathLst>
          </a:custGeom>
          <a:blipFill>
            <a:blip r:embed="rId5"/>
            <a:stretch>
              <a:fillRect l="0" t="0" r="0" b="0"/>
            </a:stretch>
          </a:blipFill>
        </p:spPr>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0" y="8520655"/>
            <a:ext cx="1257662" cy="1786861"/>
            <a:chOff x="0" y="0"/>
            <a:chExt cx="1676883" cy="2382482"/>
          </a:xfrm>
        </p:grpSpPr>
        <p:sp>
          <p:nvSpPr>
            <p:cNvPr name="Freeform 13" id="13"/>
            <p:cNvSpPr/>
            <p:nvPr/>
          </p:nvSpPr>
          <p:spPr>
            <a:xfrm flipH="false" flipV="false" rot="0">
              <a:off x="0" y="0"/>
              <a:ext cx="1676908" cy="2382520"/>
            </a:xfrm>
            <a:custGeom>
              <a:avLst/>
              <a:gdLst/>
              <a:ahLst/>
              <a:cxnLst/>
              <a:rect r="r" b="b" t="t" l="l"/>
              <a:pathLst>
                <a:path h="2382520" w="1676908">
                  <a:moveTo>
                    <a:pt x="0" y="0"/>
                  </a:moveTo>
                  <a:lnTo>
                    <a:pt x="1676908" y="0"/>
                  </a:lnTo>
                  <a:lnTo>
                    <a:pt x="1676908" y="2382520"/>
                  </a:lnTo>
                  <a:lnTo>
                    <a:pt x="0" y="2382520"/>
                  </a:lnTo>
                  <a:lnTo>
                    <a:pt x="0" y="0"/>
                  </a:lnTo>
                  <a:close/>
                </a:path>
              </a:pathLst>
            </a:custGeom>
            <a:solidFill>
              <a:srgbClr val="A4242F"/>
            </a:solidFill>
          </p:spPr>
        </p:sp>
      </p:grpSp>
      <p:grpSp>
        <p:nvGrpSpPr>
          <p:cNvPr name="Group 14" id="14"/>
          <p:cNvGrpSpPr/>
          <p:nvPr/>
        </p:nvGrpSpPr>
        <p:grpSpPr>
          <a:xfrm rot="0">
            <a:off x="1257119" y="9534782"/>
            <a:ext cx="13997883" cy="772744"/>
            <a:chOff x="0" y="0"/>
            <a:chExt cx="18663844" cy="1030326"/>
          </a:xfrm>
        </p:grpSpPr>
        <p:sp>
          <p:nvSpPr>
            <p:cNvPr name="Freeform 15" id="15"/>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16" id="16"/>
          <p:cNvGrpSpPr/>
          <p:nvPr/>
        </p:nvGrpSpPr>
        <p:grpSpPr>
          <a:xfrm rot="0">
            <a:off x="1584185" y="-160048"/>
            <a:ext cx="15861240" cy="1713089"/>
            <a:chOff x="0" y="0"/>
            <a:chExt cx="18288000" cy="1975191"/>
          </a:xfrm>
        </p:grpSpPr>
        <p:sp>
          <p:nvSpPr>
            <p:cNvPr name="Freeform 17" id="17"/>
            <p:cNvSpPr/>
            <p:nvPr/>
          </p:nvSpPr>
          <p:spPr>
            <a:xfrm flipH="false" flipV="false" rot="0">
              <a:off x="0" y="0"/>
              <a:ext cx="18288000" cy="1975185"/>
            </a:xfrm>
            <a:custGeom>
              <a:avLst/>
              <a:gdLst/>
              <a:ahLst/>
              <a:cxnLst/>
              <a:rect r="r" b="b" t="t" l="l"/>
              <a:pathLst>
                <a:path h="1975185" w="18288000">
                  <a:moveTo>
                    <a:pt x="0" y="0"/>
                  </a:moveTo>
                  <a:lnTo>
                    <a:pt x="18288000" y="0"/>
                  </a:lnTo>
                  <a:lnTo>
                    <a:pt x="18288000" y="1975185"/>
                  </a:lnTo>
                  <a:lnTo>
                    <a:pt x="0" y="1975185"/>
                  </a:lnTo>
                  <a:close/>
                </a:path>
              </a:pathLst>
            </a:custGeom>
            <a:blipFill>
              <a:blip r:embed="rId4">
                <a:alphaModFix amt="0"/>
              </a:blip>
              <a:stretch>
                <a:fillRect l="0" t="-143829" r="0" b="-116989"/>
              </a:stretch>
            </a:blipFill>
          </p:spPr>
        </p:sp>
        <p:sp>
          <p:nvSpPr>
            <p:cNvPr name="TextBox 18" id="18"/>
            <p:cNvSpPr txBox="true"/>
            <p:nvPr/>
          </p:nvSpPr>
          <p:spPr>
            <a:xfrm>
              <a:off x="0" y="28575"/>
              <a:ext cx="18288000" cy="1946616"/>
            </a:xfrm>
            <a:prstGeom prst="rect">
              <a:avLst/>
            </a:prstGeom>
          </p:spPr>
          <p:txBody>
            <a:bodyPr anchor="b" rtlCol="false" tIns="0" lIns="0" bIns="0" rIns="0"/>
            <a:lstStyle/>
            <a:p>
              <a:pPr algn="ctr">
                <a:lnSpc>
                  <a:spcPts val="5832"/>
                </a:lnSpc>
              </a:pPr>
              <a:r>
                <a:rPr lang="en-US" sz="5400" b="true">
                  <a:solidFill>
                    <a:srgbClr val="000000"/>
                  </a:solidFill>
                  <a:latin typeface="Times New Roman Bold"/>
                  <a:ea typeface="Times New Roman Bold"/>
                  <a:cs typeface="Times New Roman Bold"/>
                  <a:sym typeface="Times New Roman Bold"/>
                </a:rPr>
                <a:t>Features of the Project </a:t>
              </a:r>
            </a:p>
          </p:txBody>
        </p:sp>
      </p:grpSp>
      <p:sp>
        <p:nvSpPr>
          <p:cNvPr name="TextBox 19" id="19"/>
          <p:cNvSpPr txBox="true"/>
          <p:nvPr/>
        </p:nvSpPr>
        <p:spPr>
          <a:xfrm rot="0">
            <a:off x="1794318" y="2124075"/>
            <a:ext cx="14977269" cy="6019800"/>
          </a:xfrm>
          <a:prstGeom prst="rect">
            <a:avLst/>
          </a:prstGeom>
        </p:spPr>
        <p:txBody>
          <a:bodyPr anchor="t" rtlCol="false" tIns="0" lIns="0" bIns="0" rIns="0">
            <a:spAutoFit/>
          </a:bodyPr>
          <a:lstStyle/>
          <a:p>
            <a:pPr algn="l">
              <a:lnSpc>
                <a:spcPts val="4794"/>
              </a:lnSpc>
            </a:pPr>
            <a:r>
              <a:rPr lang="en-US" sz="3995">
                <a:solidFill>
                  <a:srgbClr val="000000"/>
                </a:solidFill>
                <a:latin typeface="Times New Roman"/>
                <a:ea typeface="Times New Roman"/>
                <a:cs typeface="Times New Roman"/>
                <a:sym typeface="Times New Roman"/>
              </a:rPr>
              <a:t>• </a:t>
            </a:r>
            <a:r>
              <a:rPr lang="en-US" sz="3995" b="true">
                <a:solidFill>
                  <a:srgbClr val="000000"/>
                </a:solidFill>
                <a:latin typeface="Times New Roman Bold"/>
                <a:ea typeface="Times New Roman Bold"/>
                <a:cs typeface="Times New Roman Bold"/>
                <a:sym typeface="Times New Roman Bold"/>
              </a:rPr>
              <a:t>Multi-Parameter Spatial Analysis</a:t>
            </a:r>
          </a:p>
          <a:p>
            <a:pPr algn="l">
              <a:lnSpc>
                <a:spcPts val="4794"/>
              </a:lnSpc>
            </a:pPr>
            <a:r>
              <a:rPr lang="en-US" sz="3995">
                <a:solidFill>
                  <a:srgbClr val="000000"/>
                </a:solidFill>
                <a:latin typeface="Times New Roman"/>
                <a:ea typeface="Times New Roman"/>
                <a:cs typeface="Times New Roman"/>
                <a:sym typeface="Times New Roman"/>
              </a:rPr>
              <a:t>Integrates slope, soil type, rainfall, land use, and drainage data for comprehensive evaluation.</a:t>
            </a:r>
          </a:p>
          <a:p>
            <a:pPr algn="l">
              <a:lnSpc>
                <a:spcPts val="4794"/>
              </a:lnSpc>
            </a:pPr>
            <a:r>
              <a:rPr lang="en-US" sz="3995">
                <a:solidFill>
                  <a:srgbClr val="000000"/>
                </a:solidFill>
                <a:latin typeface="Times New Roman"/>
                <a:ea typeface="Times New Roman"/>
                <a:cs typeface="Times New Roman"/>
                <a:sym typeface="Times New Roman"/>
              </a:rPr>
              <a:t>• </a:t>
            </a:r>
            <a:r>
              <a:rPr lang="en-US" sz="3995" b="true">
                <a:solidFill>
                  <a:srgbClr val="000000"/>
                </a:solidFill>
                <a:latin typeface="Times New Roman Bold"/>
                <a:ea typeface="Times New Roman Bold"/>
                <a:cs typeface="Times New Roman Bold"/>
                <a:sym typeface="Times New Roman Bold"/>
              </a:rPr>
              <a:t>GIS-Based Suitability Modeling</a:t>
            </a:r>
          </a:p>
          <a:p>
            <a:pPr algn="l">
              <a:lnSpc>
                <a:spcPts val="4794"/>
              </a:lnSpc>
            </a:pPr>
            <a:r>
              <a:rPr lang="en-US" sz="3995">
                <a:solidFill>
                  <a:srgbClr val="000000"/>
                </a:solidFill>
                <a:latin typeface="Times New Roman"/>
                <a:ea typeface="Times New Roman"/>
                <a:cs typeface="Times New Roman"/>
                <a:sym typeface="Times New Roman"/>
              </a:rPr>
              <a:t>Uses Multi-Criteria Decision Analysis (MCDA) and weighted overlay techniques for scientific site selection.</a:t>
            </a:r>
          </a:p>
          <a:p>
            <a:pPr algn="l">
              <a:lnSpc>
                <a:spcPts val="4794"/>
              </a:lnSpc>
            </a:pPr>
            <a:r>
              <a:rPr lang="en-US" sz="3995">
                <a:solidFill>
                  <a:srgbClr val="000000"/>
                </a:solidFill>
                <a:latin typeface="Times New Roman"/>
                <a:ea typeface="Times New Roman"/>
                <a:cs typeface="Times New Roman"/>
                <a:sym typeface="Times New Roman"/>
              </a:rPr>
              <a:t>• </a:t>
            </a:r>
            <a:r>
              <a:rPr lang="en-US" sz="3995" b="true">
                <a:solidFill>
                  <a:srgbClr val="000000"/>
                </a:solidFill>
                <a:latin typeface="Times New Roman Bold"/>
                <a:ea typeface="Times New Roman Bold"/>
                <a:cs typeface="Times New Roman Bold"/>
                <a:sym typeface="Times New Roman Bold"/>
              </a:rPr>
              <a:t>Thematic Layer Generation</a:t>
            </a:r>
          </a:p>
          <a:p>
            <a:pPr algn="l">
              <a:lnSpc>
                <a:spcPts val="4794"/>
              </a:lnSpc>
            </a:pPr>
            <a:r>
              <a:rPr lang="en-US" sz="3995">
                <a:solidFill>
                  <a:srgbClr val="000000"/>
                </a:solidFill>
                <a:latin typeface="Times New Roman"/>
                <a:ea typeface="Times New Roman"/>
                <a:cs typeface="Times New Roman"/>
                <a:sym typeface="Times New Roman"/>
              </a:rPr>
              <a:t>Creates individual maps such as slope map, soil map, rainfall map, and LULC map for Chandrapur.</a:t>
            </a:r>
          </a:p>
          <a:p>
            <a:pPr algn="l">
              <a:lnSpc>
                <a:spcPts val="4794"/>
              </a:lnSpc>
            </a:pP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3484440" y="676785"/>
            <a:ext cx="12383015" cy="847725"/>
          </a:xfrm>
          <a:prstGeom prst="rect">
            <a:avLst/>
          </a:prstGeom>
        </p:spPr>
        <p:txBody>
          <a:bodyPr anchor="t" rtlCol="false" tIns="0" lIns="0" bIns="0" rIns="0">
            <a:spAutoFit/>
          </a:bodyPr>
          <a:lstStyle/>
          <a:p>
            <a:pPr algn="ctr">
              <a:lnSpc>
                <a:spcPts val="6480"/>
              </a:lnSpc>
            </a:pPr>
            <a:r>
              <a:rPr lang="en-US" sz="5400" b="true">
                <a:solidFill>
                  <a:srgbClr val="000000"/>
                </a:solidFill>
                <a:latin typeface="Times New Roman Bold"/>
                <a:ea typeface="Times New Roman Bold"/>
                <a:cs typeface="Times New Roman Bold"/>
                <a:sym typeface="Times New Roman Bold"/>
              </a:rPr>
              <a:t>Features of the Project</a:t>
            </a:r>
          </a:p>
        </p:txBody>
      </p:sp>
      <p:sp>
        <p:nvSpPr>
          <p:cNvPr name="TextBox 13" id="13"/>
          <p:cNvSpPr txBox="true"/>
          <p:nvPr/>
        </p:nvSpPr>
        <p:spPr>
          <a:xfrm rot="0">
            <a:off x="2114374" y="2139229"/>
            <a:ext cx="13753081" cy="7781925"/>
          </a:xfrm>
          <a:prstGeom prst="rect">
            <a:avLst/>
          </a:prstGeom>
        </p:spPr>
        <p:txBody>
          <a:bodyPr anchor="t" rtlCol="false" tIns="0" lIns="0" bIns="0" rIns="0">
            <a:spAutoFit/>
          </a:bodyPr>
          <a:lstStyle/>
          <a:p>
            <a:pPr algn="l">
              <a:lnSpc>
                <a:spcPts val="5039"/>
              </a:lnSpc>
            </a:pPr>
            <a:r>
              <a:rPr lang="en-US" sz="4199" b="true">
                <a:solidFill>
                  <a:srgbClr val="000000"/>
                </a:solidFill>
                <a:latin typeface="Times New Roman Bold"/>
                <a:ea typeface="Times New Roman Bold"/>
                <a:cs typeface="Times New Roman Bold"/>
                <a:sym typeface="Times New Roman Bold"/>
              </a:rPr>
              <a:t>• Rainwater Harvesting Potential Zonation</a:t>
            </a:r>
          </a:p>
          <a:p>
            <a:pPr algn="l">
              <a:lnSpc>
                <a:spcPts val="5039"/>
              </a:lnSpc>
            </a:pPr>
            <a:r>
              <a:rPr lang="en-US" sz="4199">
                <a:solidFill>
                  <a:srgbClr val="000000"/>
                </a:solidFill>
                <a:latin typeface="Times New Roman"/>
                <a:ea typeface="Times New Roman"/>
                <a:cs typeface="Times New Roman"/>
                <a:sym typeface="Times New Roman"/>
              </a:rPr>
              <a:t>Classifies areas into highly suitable, moderately suitable, and    less suitable zones.</a:t>
            </a:r>
          </a:p>
          <a:p>
            <a:pPr algn="l">
              <a:lnSpc>
                <a:spcPts val="5039"/>
              </a:lnSpc>
            </a:pPr>
            <a:r>
              <a:rPr lang="en-US" sz="4199" b="true">
                <a:solidFill>
                  <a:srgbClr val="000000"/>
                </a:solidFill>
                <a:latin typeface="Times New Roman Bold"/>
                <a:ea typeface="Times New Roman Bold"/>
                <a:cs typeface="Times New Roman Bold"/>
                <a:sym typeface="Times New Roman Bold"/>
              </a:rPr>
              <a:t>• Data-Driven Decision Support</a:t>
            </a:r>
          </a:p>
          <a:p>
            <a:pPr algn="l">
              <a:lnSpc>
                <a:spcPts val="5039"/>
              </a:lnSpc>
            </a:pPr>
            <a:r>
              <a:rPr lang="en-US" sz="4199">
                <a:solidFill>
                  <a:srgbClr val="000000"/>
                </a:solidFill>
                <a:latin typeface="Times New Roman"/>
                <a:ea typeface="Times New Roman"/>
                <a:cs typeface="Times New Roman"/>
                <a:sym typeface="Times New Roman"/>
              </a:rPr>
              <a:t>Provides reliable spatial insights for planners and local authorities.</a:t>
            </a:r>
          </a:p>
          <a:p>
            <a:pPr algn="l">
              <a:lnSpc>
                <a:spcPts val="5039"/>
              </a:lnSpc>
            </a:pPr>
            <a:r>
              <a:rPr lang="en-US" sz="4199" b="true">
                <a:solidFill>
                  <a:srgbClr val="000000"/>
                </a:solidFill>
                <a:latin typeface="Times New Roman Bold"/>
                <a:ea typeface="Times New Roman Bold"/>
                <a:cs typeface="Times New Roman Bold"/>
                <a:sym typeface="Times New Roman Bold"/>
              </a:rPr>
              <a:t>• Visual Map Outputs</a:t>
            </a:r>
          </a:p>
          <a:p>
            <a:pPr algn="l">
              <a:lnSpc>
                <a:spcPts val="5039"/>
              </a:lnSpc>
            </a:pPr>
            <a:r>
              <a:rPr lang="en-US" sz="4199">
                <a:solidFill>
                  <a:srgbClr val="000000"/>
                </a:solidFill>
                <a:latin typeface="Times New Roman"/>
                <a:ea typeface="Times New Roman"/>
                <a:cs typeface="Times New Roman"/>
                <a:sym typeface="Times New Roman"/>
              </a:rPr>
              <a:t>Generates easy-to-understand suitability maps with legends and statistical summaries.</a:t>
            </a:r>
          </a:p>
          <a:p>
            <a:pPr algn="l">
              <a:lnSpc>
                <a:spcPts val="5039"/>
              </a:lnSpc>
            </a:pPr>
          </a:p>
          <a:p>
            <a:pPr algn="l">
              <a:lnSpc>
                <a:spcPts val="5039"/>
              </a:lnSpc>
            </a:pPr>
          </a:p>
          <a:p>
            <a:pPr algn="l">
              <a:lnSpc>
                <a:spcPts val="5879"/>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121140"/>
            <a:ext cx="1257662" cy="1186377"/>
            <a:chOff x="0" y="0"/>
            <a:chExt cx="1676883" cy="1581836"/>
          </a:xfrm>
        </p:grpSpPr>
        <p:sp>
          <p:nvSpPr>
            <p:cNvPr name="Freeform 3" id="3"/>
            <p:cNvSpPr/>
            <p:nvPr/>
          </p:nvSpPr>
          <p:spPr>
            <a:xfrm flipH="false" flipV="false" rot="0">
              <a:off x="0" y="0"/>
              <a:ext cx="1676908" cy="1581785"/>
            </a:xfrm>
            <a:custGeom>
              <a:avLst/>
              <a:gdLst/>
              <a:ahLst/>
              <a:cxnLst/>
              <a:rect r="r" b="b" t="t" l="l"/>
              <a:pathLst>
                <a:path h="1581785" w="1676908">
                  <a:moveTo>
                    <a:pt x="0" y="0"/>
                  </a:moveTo>
                  <a:lnTo>
                    <a:pt x="1676908" y="0"/>
                  </a:lnTo>
                  <a:lnTo>
                    <a:pt x="1676908" y="1581785"/>
                  </a:lnTo>
                  <a:lnTo>
                    <a:pt x="0" y="1581785"/>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3971646" y="638175"/>
            <a:ext cx="11555063" cy="847725"/>
          </a:xfrm>
          <a:prstGeom prst="rect">
            <a:avLst/>
          </a:prstGeom>
        </p:spPr>
        <p:txBody>
          <a:bodyPr anchor="t" rtlCol="false" tIns="0" lIns="0" bIns="0" rIns="0">
            <a:spAutoFit/>
          </a:bodyPr>
          <a:lstStyle/>
          <a:p>
            <a:pPr algn="ctr">
              <a:lnSpc>
                <a:spcPts val="6480"/>
              </a:lnSpc>
            </a:pPr>
            <a:r>
              <a:rPr lang="en-US" sz="5400" b="true">
                <a:solidFill>
                  <a:srgbClr val="000000"/>
                </a:solidFill>
                <a:latin typeface="Times New Roman Bold"/>
                <a:ea typeface="Times New Roman Bold"/>
                <a:cs typeface="Times New Roman Bold"/>
                <a:sym typeface="Times New Roman Bold"/>
              </a:rPr>
              <a:t>Technology Details </a:t>
            </a:r>
          </a:p>
        </p:txBody>
      </p:sp>
      <p:grpSp>
        <p:nvGrpSpPr>
          <p:cNvPr name="Group 13" id="13"/>
          <p:cNvGrpSpPr/>
          <p:nvPr/>
        </p:nvGrpSpPr>
        <p:grpSpPr>
          <a:xfrm rot="0">
            <a:off x="1729531" y="2142813"/>
            <a:ext cx="12024612" cy="6639806"/>
            <a:chOff x="0" y="0"/>
            <a:chExt cx="24231518" cy="13380273"/>
          </a:xfrm>
        </p:grpSpPr>
        <p:sp>
          <p:nvSpPr>
            <p:cNvPr name="Freeform 14" id="14"/>
            <p:cNvSpPr/>
            <p:nvPr/>
          </p:nvSpPr>
          <p:spPr>
            <a:xfrm flipH="false" flipV="false" rot="0">
              <a:off x="0" y="0"/>
              <a:ext cx="24231519" cy="13380256"/>
            </a:xfrm>
            <a:custGeom>
              <a:avLst/>
              <a:gdLst/>
              <a:ahLst/>
              <a:cxnLst/>
              <a:rect r="r" b="b" t="t" l="l"/>
              <a:pathLst>
                <a:path h="13380256" w="24231519">
                  <a:moveTo>
                    <a:pt x="0" y="0"/>
                  </a:moveTo>
                  <a:lnTo>
                    <a:pt x="24231519" y="0"/>
                  </a:lnTo>
                  <a:lnTo>
                    <a:pt x="24231519" y="13380256"/>
                  </a:lnTo>
                  <a:lnTo>
                    <a:pt x="0" y="13380256"/>
                  </a:lnTo>
                  <a:close/>
                </a:path>
              </a:pathLst>
            </a:custGeom>
            <a:blipFill>
              <a:blip r:embed="rId4">
                <a:alphaModFix amt="0"/>
              </a:blip>
              <a:stretch>
                <a:fillRect l="0" t="-15936" r="19497" b="59122"/>
              </a:stretch>
            </a:blipFill>
          </p:spPr>
        </p:sp>
        <p:sp>
          <p:nvSpPr>
            <p:cNvPr name="TextBox 15" id="15"/>
            <p:cNvSpPr txBox="true"/>
            <p:nvPr/>
          </p:nvSpPr>
          <p:spPr>
            <a:xfrm>
              <a:off x="0" y="-28575"/>
              <a:ext cx="24231518" cy="13408848"/>
            </a:xfrm>
            <a:prstGeom prst="rect">
              <a:avLst/>
            </a:prstGeom>
          </p:spPr>
          <p:txBody>
            <a:bodyPr anchor="ctr" rtlCol="false" tIns="0" lIns="0" bIns="0" rIns="0"/>
            <a:lstStyle/>
            <a:p>
              <a:pPr algn="l">
                <a:lnSpc>
                  <a:spcPts val="4320"/>
                </a:lnSpc>
              </a:pPr>
              <a:r>
                <a:rPr lang="en-US" sz="3600" b="true">
                  <a:solidFill>
                    <a:srgbClr val="000000"/>
                  </a:solidFill>
                  <a:latin typeface="Times New Roman Bold"/>
                  <a:ea typeface="Times New Roman Bold"/>
                  <a:cs typeface="Times New Roman Bold"/>
                  <a:sym typeface="Times New Roman Bold"/>
                </a:rPr>
                <a:t>Technology Stack</a:t>
              </a:r>
            </a:p>
            <a:p>
              <a:pPr algn="l">
                <a:lnSpc>
                  <a:spcPts val="4320"/>
                </a:lnSpc>
              </a:pPr>
            </a:p>
            <a:p>
              <a:pPr algn="l">
                <a:lnSpc>
                  <a:spcPts val="4320"/>
                </a:lnSpc>
              </a:pPr>
              <a:r>
                <a:rPr lang="en-US" sz="3600">
                  <a:solidFill>
                    <a:srgbClr val="000000"/>
                  </a:solidFill>
                  <a:latin typeface="Times New Roman"/>
                  <a:ea typeface="Times New Roman"/>
                  <a:cs typeface="Times New Roman"/>
                  <a:sym typeface="Times New Roman"/>
                </a:rPr>
                <a:t>• GIS: QGIS</a:t>
              </a:r>
            </a:p>
            <a:p>
              <a:pPr algn="l">
                <a:lnSpc>
                  <a:spcPts val="4320"/>
                </a:lnSpc>
              </a:pPr>
              <a:r>
                <a:rPr lang="en-US" sz="3600">
                  <a:solidFill>
                    <a:srgbClr val="000000"/>
                  </a:solidFill>
                  <a:latin typeface="Times New Roman"/>
                  <a:ea typeface="Times New Roman"/>
                  <a:cs typeface="Times New Roman"/>
                  <a:sym typeface="Times New Roman"/>
                </a:rPr>
                <a:t>• Programming: Python</a:t>
              </a:r>
            </a:p>
            <a:p>
              <a:pPr algn="l">
                <a:lnSpc>
                  <a:spcPts val="4320"/>
                </a:lnSpc>
              </a:pPr>
              <a:r>
                <a:rPr lang="en-US" sz="3600">
                  <a:solidFill>
                    <a:srgbClr val="000000"/>
                  </a:solidFill>
                  <a:latin typeface="Times New Roman"/>
                  <a:ea typeface="Times New Roman"/>
                  <a:cs typeface="Times New Roman"/>
                  <a:sym typeface="Times New Roman"/>
                </a:rPr>
                <a:t>• Libraries: GeoPandas, Rasterio, GDAL, NumPy</a:t>
              </a:r>
            </a:p>
            <a:p>
              <a:pPr algn="l">
                <a:lnSpc>
                  <a:spcPts val="4320"/>
                </a:lnSpc>
              </a:pPr>
              <a:r>
                <a:rPr lang="en-US" sz="3600">
                  <a:solidFill>
                    <a:srgbClr val="000000"/>
                  </a:solidFill>
                  <a:latin typeface="Times New Roman"/>
                  <a:ea typeface="Times New Roman"/>
                  <a:cs typeface="Times New Roman"/>
                  <a:sym typeface="Times New Roman"/>
                </a:rPr>
                <a:t>• Spatial Analysis: MCDA, Weighted Overlay</a:t>
              </a:r>
            </a:p>
            <a:p>
              <a:pPr algn="l">
                <a:lnSpc>
                  <a:spcPts val="4320"/>
                </a:lnSpc>
              </a:pPr>
              <a:r>
                <a:rPr lang="en-US" sz="3600">
                  <a:solidFill>
                    <a:srgbClr val="000000"/>
                  </a:solidFill>
                  <a:latin typeface="Times New Roman"/>
                  <a:ea typeface="Times New Roman"/>
                  <a:cs typeface="Times New Roman"/>
                  <a:sym typeface="Times New Roman"/>
                </a:rPr>
                <a:t>• Visualization: Matplotlib, QGIS Layout Manager</a:t>
              </a:r>
            </a:p>
            <a:p>
              <a:pPr algn="l">
                <a:lnSpc>
                  <a:spcPts val="4320"/>
                </a:lnSpc>
              </a:pPr>
              <a:r>
                <a:rPr lang="en-US" sz="3600">
                  <a:solidFill>
                    <a:srgbClr val="000000"/>
                  </a:solidFill>
                  <a:latin typeface="Times New Roman"/>
                  <a:ea typeface="Times New Roman"/>
                  <a:cs typeface="Times New Roman"/>
                  <a:sym typeface="Times New Roman"/>
                </a:rPr>
                <a:t>• Data Processing: Raster Reclassification, Buffer Analysis</a:t>
              </a:r>
            </a:p>
            <a:p>
              <a:pPr algn="l">
                <a:lnSpc>
                  <a:spcPts val="4320"/>
                </a:lnSpc>
              </a:pPr>
            </a:p>
            <a:p>
              <a:pPr algn="l">
                <a:lnSpc>
                  <a:spcPts val="4320"/>
                </a:lnSpc>
              </a:pP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6805398" y="410400"/>
            <a:ext cx="5323714" cy="1236600"/>
            <a:chOff x="0" y="0"/>
            <a:chExt cx="7098285" cy="1648800"/>
          </a:xfrm>
        </p:grpSpPr>
        <p:sp>
          <p:nvSpPr>
            <p:cNvPr name="Freeform 13" id="13"/>
            <p:cNvSpPr/>
            <p:nvPr/>
          </p:nvSpPr>
          <p:spPr>
            <a:xfrm flipH="false" flipV="false" rot="0">
              <a:off x="0" y="0"/>
              <a:ext cx="7098284" cy="1648797"/>
            </a:xfrm>
            <a:custGeom>
              <a:avLst/>
              <a:gdLst/>
              <a:ahLst/>
              <a:cxnLst/>
              <a:rect r="r" b="b" t="t" l="l"/>
              <a:pathLst>
                <a:path h="1648797" w="7098284">
                  <a:moveTo>
                    <a:pt x="0" y="0"/>
                  </a:moveTo>
                  <a:lnTo>
                    <a:pt x="7098284" y="0"/>
                  </a:lnTo>
                  <a:lnTo>
                    <a:pt x="7098284" y="1648797"/>
                  </a:lnTo>
                  <a:lnTo>
                    <a:pt x="0" y="1648797"/>
                  </a:lnTo>
                  <a:close/>
                </a:path>
              </a:pathLst>
            </a:custGeom>
            <a:blipFill>
              <a:blip r:embed="rId4">
                <a:alphaModFix amt="0"/>
              </a:blip>
              <a:stretch>
                <a:fillRect l="0" t="-112764" r="-94031" b="-112764"/>
              </a:stretch>
            </a:blipFill>
          </p:spPr>
        </p:sp>
        <p:sp>
          <p:nvSpPr>
            <p:cNvPr name="TextBox 14" id="14"/>
            <p:cNvSpPr txBox="true"/>
            <p:nvPr/>
          </p:nvSpPr>
          <p:spPr>
            <a:xfrm>
              <a:off x="0" y="28575"/>
              <a:ext cx="7098285" cy="1620225"/>
            </a:xfrm>
            <a:prstGeom prst="rect">
              <a:avLst/>
            </a:prstGeom>
          </p:spPr>
          <p:txBody>
            <a:bodyPr anchor="ctr" rtlCol="false" tIns="0" lIns="0" bIns="0" rIns="0"/>
            <a:lstStyle/>
            <a:p>
              <a:pPr algn="ctr">
                <a:lnSpc>
                  <a:spcPts val="5832"/>
                </a:lnSpc>
              </a:pPr>
              <a:r>
                <a:rPr lang="en-US" sz="5400" b="true">
                  <a:solidFill>
                    <a:srgbClr val="000000"/>
                  </a:solidFill>
                  <a:latin typeface="Times New Roman Bold"/>
                  <a:ea typeface="Times New Roman Bold"/>
                  <a:cs typeface="Times New Roman Bold"/>
                  <a:sym typeface="Times New Roman Bold"/>
                </a:rPr>
                <a:t> Gaps Identified</a:t>
              </a:r>
            </a:p>
          </p:txBody>
        </p:sp>
      </p:grpSp>
      <p:sp>
        <p:nvSpPr>
          <p:cNvPr name="TextBox 15" id="15"/>
          <p:cNvSpPr txBox="true"/>
          <p:nvPr/>
        </p:nvSpPr>
        <p:spPr>
          <a:xfrm rot="0">
            <a:off x="1719165" y="2066925"/>
            <a:ext cx="15540135" cy="6124575"/>
          </a:xfrm>
          <a:prstGeom prst="rect">
            <a:avLst/>
          </a:prstGeom>
        </p:spPr>
        <p:txBody>
          <a:bodyPr anchor="t" rtlCol="false" tIns="0" lIns="0" bIns="0" rIns="0">
            <a:spAutoFit/>
          </a:bodyPr>
          <a:lstStyle/>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Lack of socio-economic analysis (cost, population, policy) [5], [6], [7]</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Limited field validation [8], [9], [10]</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Static models (no time/seasonal analysis) [6], [7], [11]</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Weak climate change integration [6], [9]</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Dependence on data quality [10], [11]</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Subjective AHP weighting [5], [7], [9]</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No hydrological simulation [11], [12]</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Less focus on urban areas [6], [8]</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No real-time/IoT systems [1], [2], [3]</a:t>
            </a:r>
          </a:p>
          <a:p>
            <a:pPr algn="l" marL="863604" indent="-431802" lvl="1">
              <a:lnSpc>
                <a:spcPts val="4800"/>
              </a:lnSpc>
              <a:buFont typeface="Arial"/>
              <a:buChar char="•"/>
            </a:pPr>
            <a:r>
              <a:rPr lang="en-US" sz="4000">
                <a:solidFill>
                  <a:srgbClr val="000000"/>
                </a:solidFill>
                <a:latin typeface="Times New Roman"/>
                <a:ea typeface="Times New Roman"/>
                <a:cs typeface="Times New Roman"/>
                <a:sym typeface="Times New Roman"/>
              </a:rPr>
              <a:t>Region-specific models (not generalizable) [7], [10], [12]</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Freeform 12" id="12"/>
          <p:cNvSpPr/>
          <p:nvPr/>
        </p:nvSpPr>
        <p:spPr>
          <a:xfrm flipH="false" flipV="false" rot="0">
            <a:off x="14069003" y="3590440"/>
            <a:ext cx="3416732" cy="3106120"/>
          </a:xfrm>
          <a:custGeom>
            <a:avLst/>
            <a:gdLst/>
            <a:ahLst/>
            <a:cxnLst/>
            <a:rect r="r" b="b" t="t" l="l"/>
            <a:pathLst>
              <a:path h="3106120" w="3416732">
                <a:moveTo>
                  <a:pt x="0" y="0"/>
                </a:moveTo>
                <a:lnTo>
                  <a:pt x="3416731" y="0"/>
                </a:lnTo>
                <a:lnTo>
                  <a:pt x="3416731" y="3106120"/>
                </a:lnTo>
                <a:lnTo>
                  <a:pt x="0" y="3106120"/>
                </a:lnTo>
                <a:lnTo>
                  <a:pt x="0" y="0"/>
                </a:lnTo>
                <a:close/>
              </a:path>
            </a:pathLst>
          </a:custGeom>
          <a:blipFill>
            <a:blip r:embed="rId4"/>
            <a:stretch>
              <a:fillRect l="-59224" t="-37557" r="-18483" b="-20524"/>
            </a:stretch>
          </a:blipFill>
          <a:ln w="28575" cap="sq">
            <a:solidFill>
              <a:srgbClr val="000000"/>
            </a:solidFill>
            <a:prstDash val="solid"/>
            <a:miter/>
          </a:ln>
        </p:spPr>
      </p:sp>
      <p:sp>
        <p:nvSpPr>
          <p:cNvPr name="AutoShape 13" id="13"/>
          <p:cNvSpPr/>
          <p:nvPr/>
        </p:nvSpPr>
        <p:spPr>
          <a:xfrm>
            <a:off x="7002370" y="5143500"/>
            <a:ext cx="1329891" cy="0"/>
          </a:xfrm>
          <a:prstGeom prst="line">
            <a:avLst/>
          </a:prstGeom>
          <a:ln cap="flat" w="95250">
            <a:solidFill>
              <a:srgbClr val="000000"/>
            </a:solidFill>
            <a:prstDash val="solid"/>
            <a:headEnd type="none" len="sm" w="sm"/>
            <a:tailEnd type="arrow" len="sm" w="med"/>
          </a:ln>
        </p:spPr>
      </p:sp>
      <p:sp>
        <p:nvSpPr>
          <p:cNvPr name="AutoShape 14" id="14"/>
          <p:cNvSpPr/>
          <p:nvPr/>
        </p:nvSpPr>
        <p:spPr>
          <a:xfrm flipV="true">
            <a:off x="12887903" y="4936425"/>
            <a:ext cx="1470708" cy="207075"/>
          </a:xfrm>
          <a:prstGeom prst="line">
            <a:avLst/>
          </a:prstGeom>
          <a:ln cap="flat" w="95250">
            <a:solidFill>
              <a:srgbClr val="000000"/>
            </a:solidFill>
            <a:prstDash val="solid"/>
            <a:headEnd type="none" len="sm" w="sm"/>
            <a:tailEnd type="arrow" len="sm" w="med"/>
          </a:ln>
        </p:spPr>
      </p:sp>
      <p:sp>
        <p:nvSpPr>
          <p:cNvPr name="Freeform 15" id="15"/>
          <p:cNvSpPr/>
          <p:nvPr/>
        </p:nvSpPr>
        <p:spPr>
          <a:xfrm flipH="false" flipV="false" rot="0">
            <a:off x="931475" y="1933044"/>
            <a:ext cx="6070895" cy="6356958"/>
          </a:xfrm>
          <a:custGeom>
            <a:avLst/>
            <a:gdLst/>
            <a:ahLst/>
            <a:cxnLst/>
            <a:rect r="r" b="b" t="t" l="l"/>
            <a:pathLst>
              <a:path h="6356958" w="6070895">
                <a:moveTo>
                  <a:pt x="0" y="0"/>
                </a:moveTo>
                <a:lnTo>
                  <a:pt x="6070895" y="0"/>
                </a:lnTo>
                <a:lnTo>
                  <a:pt x="6070895" y="6356958"/>
                </a:lnTo>
                <a:lnTo>
                  <a:pt x="0" y="6356958"/>
                </a:lnTo>
                <a:lnTo>
                  <a:pt x="0" y="0"/>
                </a:lnTo>
                <a:close/>
              </a:path>
            </a:pathLst>
          </a:custGeom>
          <a:blipFill>
            <a:blip r:embed="rId5"/>
            <a:stretch>
              <a:fillRect l="0" t="0" r="0" b="0"/>
            </a:stretch>
          </a:blipFill>
        </p:spPr>
      </p:sp>
      <p:sp>
        <p:nvSpPr>
          <p:cNvPr name="Freeform 16" id="16"/>
          <p:cNvSpPr/>
          <p:nvPr/>
        </p:nvSpPr>
        <p:spPr>
          <a:xfrm flipH="false" flipV="false" rot="0">
            <a:off x="8332260" y="3358032"/>
            <a:ext cx="4611096" cy="3591068"/>
          </a:xfrm>
          <a:custGeom>
            <a:avLst/>
            <a:gdLst/>
            <a:ahLst/>
            <a:cxnLst/>
            <a:rect r="r" b="b" t="t" l="l"/>
            <a:pathLst>
              <a:path h="3591068" w="4611096">
                <a:moveTo>
                  <a:pt x="0" y="0"/>
                </a:moveTo>
                <a:lnTo>
                  <a:pt x="4611097" y="0"/>
                </a:lnTo>
                <a:lnTo>
                  <a:pt x="4611097" y="3591068"/>
                </a:lnTo>
                <a:lnTo>
                  <a:pt x="0" y="3591068"/>
                </a:lnTo>
                <a:lnTo>
                  <a:pt x="0" y="0"/>
                </a:lnTo>
                <a:close/>
              </a:path>
            </a:pathLst>
          </a:custGeom>
          <a:blipFill>
            <a:blip r:embed="rId6"/>
            <a:stretch>
              <a:fillRect l="0" t="-560" r="0" b="0"/>
            </a:stretch>
          </a:blipFill>
        </p:spPr>
      </p:sp>
      <p:sp>
        <p:nvSpPr>
          <p:cNvPr name="TextBox 17" id="17"/>
          <p:cNvSpPr txBox="true"/>
          <p:nvPr/>
        </p:nvSpPr>
        <p:spPr>
          <a:xfrm rot="0">
            <a:off x="8075399" y="554419"/>
            <a:ext cx="3283669"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Study Area</a:t>
            </a:r>
          </a:p>
        </p:txBody>
      </p:sp>
      <p:sp>
        <p:nvSpPr>
          <p:cNvPr name="TextBox 18" id="18"/>
          <p:cNvSpPr txBox="true"/>
          <p:nvPr/>
        </p:nvSpPr>
        <p:spPr>
          <a:xfrm rot="0">
            <a:off x="2636377" y="8194752"/>
            <a:ext cx="2358180"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India</a:t>
            </a:r>
          </a:p>
        </p:txBody>
      </p:sp>
      <p:sp>
        <p:nvSpPr>
          <p:cNvPr name="TextBox 19" id="19"/>
          <p:cNvSpPr txBox="true"/>
          <p:nvPr/>
        </p:nvSpPr>
        <p:spPr>
          <a:xfrm rot="0">
            <a:off x="8533668" y="7393382"/>
            <a:ext cx="4152827"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Maharashtra</a:t>
            </a:r>
          </a:p>
        </p:txBody>
      </p:sp>
      <p:sp>
        <p:nvSpPr>
          <p:cNvPr name="TextBox 20" id="20"/>
          <p:cNvSpPr txBox="true"/>
          <p:nvPr/>
        </p:nvSpPr>
        <p:spPr>
          <a:xfrm rot="0">
            <a:off x="13700955" y="7393382"/>
            <a:ext cx="4152827"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Chandrapur</a:t>
            </a:r>
          </a:p>
        </p:txBody>
      </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6619949" y="899511"/>
            <a:ext cx="5048101"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Geographic Stats</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name="TextBox 14" id="14"/>
          <p:cNvSpPr txBox="true"/>
          <p:nvPr/>
        </p:nvSpPr>
        <p:spPr>
          <a:xfrm rot="0">
            <a:off x="10233014" y="2023561"/>
            <a:ext cx="8055700" cy="3599815"/>
          </a:xfrm>
          <a:prstGeom prst="rect">
            <a:avLst/>
          </a:prstGeom>
        </p:spPr>
        <p:txBody>
          <a:bodyPr anchor="t" rtlCol="false" tIns="0" lIns="0" bIns="0" rIns="0">
            <a:spAutoFit/>
          </a:bodyPr>
          <a:lstStyle/>
          <a:p>
            <a:pPr algn="l">
              <a:lnSpc>
                <a:spcPts val="4759"/>
              </a:lnSpc>
            </a:pPr>
            <a:r>
              <a:rPr lang="en-US" sz="3399">
                <a:solidFill>
                  <a:srgbClr val="000000"/>
                </a:solidFill>
                <a:latin typeface="Times New Roman"/>
                <a:ea typeface="Times New Roman"/>
                <a:cs typeface="Times New Roman"/>
                <a:sym typeface="Times New Roman"/>
              </a:rPr>
              <a:t>      Popul</a:t>
            </a:r>
            <a:r>
              <a:rPr lang="en-US" sz="3399">
                <a:solidFill>
                  <a:srgbClr val="000000"/>
                </a:solidFill>
                <a:latin typeface="Times New Roman"/>
                <a:ea typeface="Times New Roman"/>
                <a:cs typeface="Times New Roman"/>
                <a:sym typeface="Times New Roman"/>
              </a:rPr>
              <a:t>ation</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Total Population: 2,204,307</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Population Density: 193 persons per sq. km</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Census Year: 2011</a:t>
            </a:r>
          </a:p>
          <a:p>
            <a:pPr algn="l">
              <a:lnSpc>
                <a:spcPts val="4759"/>
              </a:lnSpc>
            </a:pPr>
          </a:p>
        </p:txBody>
      </p:sp>
      <p:sp>
        <p:nvSpPr>
          <p:cNvPr name="TextBox 15" id="15"/>
          <p:cNvSpPr txBox="true"/>
          <p:nvPr/>
        </p:nvSpPr>
        <p:spPr>
          <a:xfrm rot="0">
            <a:off x="314210" y="6409372"/>
            <a:ext cx="8983861" cy="2999740"/>
          </a:xfrm>
          <a:prstGeom prst="rect">
            <a:avLst/>
          </a:prstGeom>
        </p:spPr>
        <p:txBody>
          <a:bodyPr anchor="t" rtlCol="false" tIns="0" lIns="0" bIns="0" rIns="0">
            <a:spAutoFit/>
          </a:bodyPr>
          <a:lstStyle/>
          <a:p>
            <a:pPr algn="l">
              <a:lnSpc>
                <a:spcPts val="4759"/>
              </a:lnSpc>
            </a:pPr>
            <a:r>
              <a:rPr lang="en-US" sz="3399">
                <a:solidFill>
                  <a:srgbClr val="000000"/>
                </a:solidFill>
                <a:latin typeface="Times New Roman"/>
                <a:ea typeface="Times New Roman"/>
                <a:cs typeface="Times New Roman"/>
                <a:sym typeface="Times New Roman"/>
              </a:rPr>
              <a:t>     Rainfall</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Average Annual Rainfall: ~1245 mm</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Rainfall Type: South-West Monsoon dominated</a:t>
            </a:r>
          </a:p>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Rainy Season: June – September</a:t>
            </a:r>
          </a:p>
          <a:p>
            <a:pPr algn="l">
              <a:lnSpc>
                <a:spcPts val="4759"/>
              </a:lnSpc>
            </a:pPr>
          </a:p>
        </p:txBody>
      </p:sp>
      <p:sp>
        <p:nvSpPr>
          <p:cNvPr name="TextBox 16" id="16"/>
          <p:cNvSpPr txBox="true"/>
          <p:nvPr/>
        </p:nvSpPr>
        <p:spPr>
          <a:xfrm rot="0">
            <a:off x="10480630" y="5790206"/>
            <a:ext cx="6904244" cy="3959672"/>
          </a:xfrm>
          <a:prstGeom prst="rect">
            <a:avLst/>
          </a:prstGeom>
        </p:spPr>
        <p:txBody>
          <a:bodyPr anchor="t" rtlCol="false" tIns="0" lIns="0" bIns="0" rIns="0">
            <a:spAutoFit/>
          </a:bodyPr>
          <a:lstStyle/>
          <a:p>
            <a:pPr algn="l">
              <a:lnSpc>
                <a:spcPts val="4451"/>
              </a:lnSpc>
            </a:pPr>
            <a:r>
              <a:rPr lang="en-US" sz="3179">
                <a:solidFill>
                  <a:srgbClr val="000000"/>
                </a:solidFill>
                <a:latin typeface="Times New Roman"/>
                <a:ea typeface="Times New Roman"/>
                <a:cs typeface="Times New Roman"/>
                <a:sym typeface="Times New Roman"/>
              </a:rPr>
              <a:t>     Climate</a:t>
            </a:r>
          </a:p>
          <a:p>
            <a:pPr algn="l" marL="686543" indent="-343271" lvl="1">
              <a:lnSpc>
                <a:spcPts val="4451"/>
              </a:lnSpc>
              <a:buFont typeface="Arial"/>
              <a:buChar char="•"/>
            </a:pPr>
            <a:r>
              <a:rPr lang="en-US" sz="3179">
                <a:solidFill>
                  <a:srgbClr val="000000"/>
                </a:solidFill>
                <a:latin typeface="Times New Roman"/>
                <a:ea typeface="Times New Roman"/>
                <a:cs typeface="Times New Roman"/>
                <a:sym typeface="Times New Roman"/>
              </a:rPr>
              <a:t>Tropical hot an</a:t>
            </a:r>
            <a:r>
              <a:rPr lang="en-US" sz="3179">
                <a:solidFill>
                  <a:srgbClr val="000000"/>
                </a:solidFill>
                <a:latin typeface="Times New Roman"/>
                <a:ea typeface="Times New Roman"/>
                <a:cs typeface="Times New Roman"/>
                <a:sym typeface="Times New Roman"/>
              </a:rPr>
              <a:t>d sub-humid climate</a:t>
            </a:r>
          </a:p>
          <a:p>
            <a:pPr algn="l" marL="686543" indent="-343271" lvl="1">
              <a:lnSpc>
                <a:spcPts val="4451"/>
              </a:lnSpc>
              <a:buFont typeface="Arial"/>
              <a:buChar char="•"/>
            </a:pPr>
            <a:r>
              <a:rPr lang="en-US" sz="3179">
                <a:solidFill>
                  <a:srgbClr val="000000"/>
                </a:solidFill>
                <a:latin typeface="Times New Roman"/>
                <a:ea typeface="Times New Roman"/>
                <a:cs typeface="Times New Roman"/>
                <a:sym typeface="Times New Roman"/>
              </a:rPr>
              <a:t>Average annual temperature: ≈ 27.7°C</a:t>
            </a:r>
          </a:p>
          <a:p>
            <a:pPr algn="l" marL="686543" indent="-343271" lvl="1">
              <a:lnSpc>
                <a:spcPts val="4451"/>
              </a:lnSpc>
              <a:buFont typeface="Arial"/>
              <a:buChar char="•"/>
            </a:pPr>
            <a:r>
              <a:rPr lang="en-US" sz="3179">
                <a:solidFill>
                  <a:srgbClr val="000000"/>
                </a:solidFill>
                <a:latin typeface="Times New Roman"/>
                <a:ea typeface="Times New Roman"/>
                <a:cs typeface="Times New Roman"/>
                <a:sym typeface="Times New Roman"/>
              </a:rPr>
              <a:t>Average annual rainfall: ≈ 1245 mm</a:t>
            </a:r>
          </a:p>
          <a:p>
            <a:pPr algn="l" marL="686543" indent="-343271" lvl="1">
              <a:lnSpc>
                <a:spcPts val="4451"/>
              </a:lnSpc>
              <a:buFont typeface="Arial"/>
              <a:buChar char="•"/>
            </a:pPr>
            <a:r>
              <a:rPr lang="en-US" sz="3179">
                <a:solidFill>
                  <a:srgbClr val="000000"/>
                </a:solidFill>
                <a:latin typeface="Times New Roman"/>
                <a:ea typeface="Times New Roman"/>
                <a:cs typeface="Times New Roman"/>
                <a:sym typeface="Times New Roman"/>
              </a:rPr>
              <a:t>Summers: up to 45°C</a:t>
            </a:r>
          </a:p>
          <a:p>
            <a:pPr algn="l" marL="686543" indent="-343271" lvl="1">
              <a:lnSpc>
                <a:spcPts val="4451"/>
              </a:lnSpc>
              <a:buFont typeface="Arial"/>
              <a:buChar char="•"/>
            </a:pPr>
            <a:r>
              <a:rPr lang="en-US" sz="3179">
                <a:solidFill>
                  <a:srgbClr val="000000"/>
                </a:solidFill>
                <a:latin typeface="Times New Roman"/>
                <a:ea typeface="Times New Roman"/>
                <a:cs typeface="Times New Roman"/>
                <a:sym typeface="Times New Roman"/>
              </a:rPr>
              <a:t>Winters: around 16°C minimum</a:t>
            </a:r>
          </a:p>
          <a:p>
            <a:pPr algn="l">
              <a:lnSpc>
                <a:spcPts val="4451"/>
              </a:lnSpc>
            </a:pPr>
          </a:p>
        </p:txBody>
      </p:sp>
      <p:sp>
        <p:nvSpPr>
          <p:cNvPr name="TextBox 17" id="17"/>
          <p:cNvSpPr txBox="true"/>
          <p:nvPr/>
        </p:nvSpPr>
        <p:spPr>
          <a:xfrm rot="0">
            <a:off x="906202" y="2023561"/>
            <a:ext cx="6809770" cy="3852369"/>
          </a:xfrm>
          <a:prstGeom prst="rect">
            <a:avLst/>
          </a:prstGeom>
        </p:spPr>
        <p:txBody>
          <a:bodyPr anchor="t" rtlCol="false" tIns="0" lIns="0" bIns="0" rIns="0">
            <a:spAutoFit/>
          </a:bodyPr>
          <a:lstStyle/>
          <a:p>
            <a:pPr algn="l">
              <a:lnSpc>
                <a:spcPts val="4357"/>
              </a:lnSpc>
            </a:pPr>
            <a:r>
              <a:rPr lang="en-US" sz="3112">
                <a:solidFill>
                  <a:srgbClr val="000000"/>
                </a:solidFill>
                <a:latin typeface="Times New Roman"/>
                <a:ea typeface="Times New Roman"/>
                <a:cs typeface="Times New Roman"/>
                <a:sym typeface="Times New Roman"/>
              </a:rPr>
              <a:t>Area Statistics</a:t>
            </a:r>
          </a:p>
          <a:p>
            <a:pPr algn="l" marL="672054" indent="-336027" lvl="1">
              <a:lnSpc>
                <a:spcPts val="4357"/>
              </a:lnSpc>
              <a:buFont typeface="Arial"/>
              <a:buChar char="•"/>
            </a:pPr>
            <a:r>
              <a:rPr lang="en-US" sz="3112">
                <a:solidFill>
                  <a:srgbClr val="000000"/>
                </a:solidFill>
                <a:latin typeface="Times New Roman"/>
                <a:ea typeface="Times New Roman"/>
                <a:cs typeface="Times New Roman"/>
                <a:sym typeface="Times New Roman"/>
              </a:rPr>
              <a:t>Total geographical area: 11,443 sq. km</a:t>
            </a:r>
          </a:p>
          <a:p>
            <a:pPr algn="l" marL="672054" indent="-336027" lvl="1">
              <a:lnSpc>
                <a:spcPts val="4357"/>
              </a:lnSpc>
              <a:buFont typeface="Arial"/>
              <a:buChar char="•"/>
            </a:pPr>
            <a:r>
              <a:rPr lang="en-US" sz="3112">
                <a:solidFill>
                  <a:srgbClr val="000000"/>
                </a:solidFill>
                <a:latin typeface="Times New Roman"/>
                <a:ea typeface="Times New Roman"/>
                <a:cs typeface="Times New Roman"/>
                <a:sym typeface="Times New Roman"/>
              </a:rPr>
              <a:t>Forest area: ≈ 3,810 sq. km</a:t>
            </a:r>
          </a:p>
          <a:p>
            <a:pPr algn="l" marL="672054" indent="-336027" lvl="1">
              <a:lnSpc>
                <a:spcPts val="4357"/>
              </a:lnSpc>
              <a:buFont typeface="Arial"/>
              <a:buChar char="•"/>
            </a:pPr>
            <a:r>
              <a:rPr lang="en-US" sz="3112">
                <a:solidFill>
                  <a:srgbClr val="000000"/>
                </a:solidFill>
                <a:latin typeface="Times New Roman"/>
                <a:ea typeface="Times New Roman"/>
                <a:cs typeface="Times New Roman"/>
                <a:sym typeface="Times New Roman"/>
              </a:rPr>
              <a:t>Agricultural area: ≈ 4,870 sq. km</a:t>
            </a:r>
          </a:p>
          <a:p>
            <a:pPr algn="l" marL="672054" indent="-336027" lvl="1">
              <a:lnSpc>
                <a:spcPts val="4357"/>
              </a:lnSpc>
              <a:buFont typeface="Arial"/>
              <a:buChar char="•"/>
            </a:pPr>
            <a:r>
              <a:rPr lang="en-US" sz="3112">
                <a:solidFill>
                  <a:srgbClr val="000000"/>
                </a:solidFill>
                <a:latin typeface="Times New Roman"/>
                <a:ea typeface="Times New Roman"/>
                <a:cs typeface="Times New Roman"/>
                <a:sym typeface="Times New Roman"/>
              </a:rPr>
              <a:t>Wasteland: ≈ 550 sq. km</a:t>
            </a:r>
          </a:p>
          <a:p>
            <a:pPr algn="l" marL="672054" indent="-336027" lvl="1">
              <a:lnSpc>
                <a:spcPts val="4357"/>
              </a:lnSpc>
              <a:buFont typeface="Arial"/>
              <a:buChar char="•"/>
            </a:pPr>
            <a:r>
              <a:rPr lang="en-US" sz="3112">
                <a:solidFill>
                  <a:srgbClr val="000000"/>
                </a:solidFill>
                <a:latin typeface="Times New Roman"/>
                <a:ea typeface="Times New Roman"/>
                <a:cs typeface="Times New Roman"/>
                <a:sym typeface="Times New Roman"/>
              </a:rPr>
              <a:t>Industrial area: ≈ 32.34 sq. km</a:t>
            </a:r>
          </a:p>
          <a:p>
            <a:pPr algn="l">
              <a:lnSpc>
                <a:spcPts val="435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924060" y="3578318"/>
            <a:ext cx="6978065" cy="6021324"/>
          </a:xfrm>
          <a:prstGeom prst="rect">
            <a:avLst/>
          </a:prstGeom>
        </p:spPr>
        <p:txBody>
          <a:bodyPr anchor="t" rtlCol="false" tIns="0" lIns="0" bIns="0" rIns="0">
            <a:spAutoFit/>
          </a:bodyPr>
          <a:lstStyle/>
          <a:p>
            <a:pPr algn="l">
              <a:lnSpc>
                <a:spcPts val="2807"/>
              </a:lnSpc>
              <a:spcBef>
                <a:spcPct val="0"/>
              </a:spcBef>
            </a:pPr>
            <a:r>
              <a:rPr lang="en-US" b="true" sz="2599">
                <a:solidFill>
                  <a:srgbClr val="000000"/>
                </a:solidFill>
                <a:latin typeface="Times New Roman Bold"/>
                <a:ea typeface="Times New Roman Bold"/>
                <a:cs typeface="Times New Roman Bold"/>
                <a:sym typeface="Times New Roman Bold"/>
              </a:rPr>
              <a:t>1. Terrain Factor </a:t>
            </a:r>
          </a:p>
          <a:p>
            <a:pPr algn="l" marL="561339" indent="-280669" lvl="1">
              <a:lnSpc>
                <a:spcPts val="2807"/>
              </a:lnSpc>
              <a:buFont typeface="Arial"/>
              <a:buChar char="•"/>
            </a:pPr>
            <a:r>
              <a:rPr lang="en-US" sz="2599">
                <a:solidFill>
                  <a:srgbClr val="000000"/>
                </a:solidFill>
                <a:latin typeface="Times New Roman"/>
                <a:ea typeface="Times New Roman"/>
                <a:cs typeface="Times New Roman"/>
                <a:sym typeface="Times New Roman"/>
              </a:rPr>
              <a:t>Slope [5],[6],[7],[8],[9],[10],[11],[12]</a:t>
            </a:r>
          </a:p>
          <a:p>
            <a:pPr algn="l">
              <a:lnSpc>
                <a:spcPts val="2807"/>
              </a:lnSpc>
            </a:pPr>
            <a:r>
              <a:rPr lang="en-US" sz="2599">
                <a:solidFill>
                  <a:srgbClr val="000000"/>
                </a:solidFill>
                <a:latin typeface="Times New Roman"/>
                <a:ea typeface="Times New Roman"/>
                <a:cs typeface="Times New Roman"/>
                <a:sym typeface="Times New Roman"/>
              </a:rPr>
              <a:t>           Controls water flow speed</a:t>
            </a:r>
          </a:p>
          <a:p>
            <a:pPr algn="l">
              <a:lnSpc>
                <a:spcPts val="2807"/>
              </a:lnSpc>
              <a:spcBef>
                <a:spcPct val="0"/>
              </a:spcBef>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Gentle slope = better water storage</a:t>
            </a:r>
          </a:p>
          <a:p>
            <a:pPr algn="l">
              <a:lnSpc>
                <a:spcPts val="2807"/>
              </a:lnSpc>
              <a:spcBef>
                <a:spcPct val="0"/>
              </a:spcBef>
            </a:pPr>
          </a:p>
          <a:p>
            <a:pPr algn="l">
              <a:lnSpc>
                <a:spcPts val="2807"/>
              </a:lnSpc>
              <a:spcBef>
                <a:spcPct val="0"/>
              </a:spcBef>
            </a:pPr>
            <a:r>
              <a:rPr lang="en-US" b="true" sz="2599">
                <a:solidFill>
                  <a:srgbClr val="000000"/>
                </a:solidFill>
                <a:latin typeface="Times New Roman Bold"/>
                <a:ea typeface="Times New Roman Bold"/>
                <a:cs typeface="Times New Roman Bold"/>
                <a:sym typeface="Times New Roman Bold"/>
              </a:rPr>
              <a:t>2. Soil Factor</a:t>
            </a:r>
          </a:p>
          <a:p>
            <a:pPr algn="l" marL="561339" indent="-280669" lvl="1">
              <a:lnSpc>
                <a:spcPts val="2807"/>
              </a:lnSpc>
              <a:buFont typeface="Arial"/>
              <a:buChar char="•"/>
            </a:pPr>
            <a:r>
              <a:rPr lang="en-US" sz="2599">
                <a:solidFill>
                  <a:srgbClr val="000000"/>
                </a:solidFill>
                <a:latin typeface="Times New Roman"/>
                <a:ea typeface="Times New Roman"/>
                <a:cs typeface="Times New Roman"/>
                <a:sym typeface="Times New Roman"/>
              </a:rPr>
              <a:t>Soil Texture [5],[6],[7],[8],[9],[10],[11],[12]</a:t>
            </a:r>
          </a:p>
          <a:p>
            <a:pPr algn="l">
              <a:lnSpc>
                <a:spcPts val="2807"/>
              </a:lnSpc>
              <a:spcBef>
                <a:spcPct val="0"/>
              </a:spcBef>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Determines infiltration</a:t>
            </a:r>
          </a:p>
          <a:p>
            <a:pPr algn="l">
              <a:lnSpc>
                <a:spcPts val="2807"/>
              </a:lnSpc>
              <a:spcBef>
                <a:spcPct val="0"/>
              </a:spcBef>
            </a:pPr>
            <a:r>
              <a:rPr lang="en-US" sz="2599">
                <a:solidFill>
                  <a:srgbClr val="000000"/>
                </a:solidFill>
                <a:latin typeface="Times New Roman"/>
                <a:ea typeface="Times New Roman"/>
                <a:cs typeface="Times New Roman"/>
                <a:sym typeface="Times New Roman"/>
              </a:rPr>
              <a:t>           Clay retains water, Sand drains quickly</a:t>
            </a:r>
          </a:p>
          <a:p>
            <a:pPr algn="l">
              <a:lnSpc>
                <a:spcPts val="2807"/>
              </a:lnSpc>
              <a:spcBef>
                <a:spcPct val="0"/>
              </a:spcBef>
            </a:pPr>
          </a:p>
          <a:p>
            <a:pPr algn="l">
              <a:lnSpc>
                <a:spcPts val="2807"/>
              </a:lnSpc>
              <a:spcBef>
                <a:spcPct val="0"/>
              </a:spcBef>
            </a:pPr>
            <a:r>
              <a:rPr lang="en-US" b="true" sz="2599">
                <a:solidFill>
                  <a:srgbClr val="000000"/>
                </a:solidFill>
                <a:latin typeface="Times New Roman Bold"/>
                <a:ea typeface="Times New Roman Bold"/>
                <a:cs typeface="Times New Roman Bold"/>
                <a:sym typeface="Times New Roman Bold"/>
              </a:rPr>
              <a:t>3. Land Factor</a:t>
            </a:r>
          </a:p>
          <a:p>
            <a:pPr algn="l" marL="561339" indent="-280669" lvl="1">
              <a:lnSpc>
                <a:spcPts val="2807"/>
              </a:lnSpc>
              <a:buFont typeface="Arial"/>
              <a:buChar char="•"/>
            </a:pPr>
            <a:r>
              <a:rPr lang="en-US" sz="2599">
                <a:solidFill>
                  <a:srgbClr val="000000"/>
                </a:solidFill>
                <a:latin typeface="Times New Roman"/>
                <a:ea typeface="Times New Roman"/>
                <a:cs typeface="Times New Roman"/>
                <a:sym typeface="Times New Roman"/>
              </a:rPr>
              <a:t>LULC [5],[6],[7],[8],[9],[10],[11],[12]</a:t>
            </a:r>
          </a:p>
          <a:p>
            <a:pPr algn="l">
              <a:lnSpc>
                <a:spcPts val="2807"/>
              </a:lnSpc>
              <a:spcBef>
                <a:spcPct val="0"/>
              </a:spcBef>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Urban, agriculture, forest affect runoff</a:t>
            </a:r>
          </a:p>
          <a:p>
            <a:pPr algn="l">
              <a:lnSpc>
                <a:spcPts val="2807"/>
              </a:lnSpc>
              <a:spcBef>
                <a:spcPct val="0"/>
              </a:spcBef>
            </a:pPr>
            <a:r>
              <a:rPr lang="en-US" sz="2599">
                <a:solidFill>
                  <a:srgbClr val="000000"/>
                </a:solidFill>
                <a:latin typeface="Times New Roman"/>
                <a:ea typeface="Times New Roman"/>
                <a:cs typeface="Times New Roman"/>
                <a:sym typeface="Times New Roman"/>
              </a:rPr>
              <a:t>           Helps decide feasibility</a:t>
            </a:r>
          </a:p>
          <a:p>
            <a:pPr algn="l">
              <a:lnSpc>
                <a:spcPts val="2807"/>
              </a:lnSpc>
              <a:spcBef>
                <a:spcPct val="0"/>
              </a:spcBef>
            </a:pPr>
          </a:p>
          <a:p>
            <a:pPr algn="l">
              <a:lnSpc>
                <a:spcPts val="2807"/>
              </a:lnSpc>
              <a:spcBef>
                <a:spcPct val="0"/>
              </a:spcBef>
            </a:pPr>
          </a:p>
          <a:p>
            <a:pPr algn="l">
              <a:lnSpc>
                <a:spcPts val="2807"/>
              </a:lnSpc>
              <a:spcBef>
                <a:spcPct val="0"/>
              </a:spcBef>
            </a:pPr>
          </a:p>
        </p:txBody>
      </p:sp>
      <p:sp>
        <p:nvSpPr>
          <p:cNvPr name="TextBox 13" id="13"/>
          <p:cNvSpPr txBox="true"/>
          <p:nvPr/>
        </p:nvSpPr>
        <p:spPr>
          <a:xfrm rot="0">
            <a:off x="9869075" y="3578318"/>
            <a:ext cx="7390225" cy="5316474"/>
          </a:xfrm>
          <a:prstGeom prst="rect">
            <a:avLst/>
          </a:prstGeom>
        </p:spPr>
        <p:txBody>
          <a:bodyPr anchor="t" rtlCol="false" tIns="0" lIns="0" bIns="0" rIns="0">
            <a:spAutoFit/>
          </a:bodyPr>
          <a:lstStyle/>
          <a:p>
            <a:pPr algn="l">
              <a:lnSpc>
                <a:spcPts val="2807"/>
              </a:lnSpc>
            </a:pPr>
            <a:r>
              <a:rPr lang="en-US" sz="2599" b="true">
                <a:solidFill>
                  <a:srgbClr val="000000"/>
                </a:solidFill>
                <a:latin typeface="Times New Roman Bold"/>
                <a:ea typeface="Times New Roman Bold"/>
                <a:cs typeface="Times New Roman Bold"/>
                <a:sym typeface="Times New Roman Bold"/>
              </a:rPr>
              <a:t>4. Hydrological Factor</a:t>
            </a:r>
          </a:p>
          <a:p>
            <a:pPr algn="l" marL="561339" indent="-280669" lvl="1">
              <a:lnSpc>
                <a:spcPts val="2807"/>
              </a:lnSpc>
              <a:buFont typeface="Arial"/>
              <a:buChar char="•"/>
            </a:pPr>
            <a:r>
              <a:rPr lang="en-US" sz="2599">
                <a:solidFill>
                  <a:srgbClr val="000000"/>
                </a:solidFill>
                <a:latin typeface="Times New Roman"/>
                <a:ea typeface="Times New Roman"/>
                <a:cs typeface="Times New Roman"/>
                <a:sym typeface="Times New Roman"/>
              </a:rPr>
              <a:t>Drainage Density [5],[6],[7],[8],[9],[10],[11],[12]</a:t>
            </a:r>
          </a:p>
          <a:p>
            <a:pPr algn="l">
              <a:lnSpc>
                <a:spcPts val="2807"/>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Indicates runoff concentration</a:t>
            </a:r>
          </a:p>
          <a:p>
            <a:pPr algn="l">
              <a:lnSpc>
                <a:spcPts val="2807"/>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Helps locate collection points</a:t>
            </a:r>
          </a:p>
          <a:p>
            <a:pPr algn="l">
              <a:lnSpc>
                <a:spcPts val="2807"/>
              </a:lnSpc>
            </a:pPr>
          </a:p>
          <a:p>
            <a:pPr algn="l">
              <a:lnSpc>
                <a:spcPts val="2807"/>
              </a:lnSpc>
            </a:pPr>
            <a:r>
              <a:rPr lang="en-US" sz="2599" b="true">
                <a:solidFill>
                  <a:srgbClr val="000000"/>
                </a:solidFill>
                <a:latin typeface="Times New Roman Bold"/>
                <a:ea typeface="Times New Roman Bold"/>
                <a:cs typeface="Times New Roman Bold"/>
                <a:sym typeface="Times New Roman Bold"/>
              </a:rPr>
              <a:t>5. Climate Factor</a:t>
            </a:r>
          </a:p>
          <a:p>
            <a:pPr algn="l" marL="561339" indent="-280669" lvl="1">
              <a:lnSpc>
                <a:spcPts val="2807"/>
              </a:lnSpc>
              <a:buFont typeface="Arial"/>
              <a:buChar char="•"/>
            </a:pPr>
            <a:r>
              <a:rPr lang="en-US" sz="2599">
                <a:solidFill>
                  <a:srgbClr val="000000"/>
                </a:solidFill>
                <a:latin typeface="Times New Roman"/>
                <a:ea typeface="Times New Roman"/>
                <a:cs typeface="Times New Roman"/>
                <a:sym typeface="Times New Roman"/>
              </a:rPr>
              <a:t>Average Rainfall [5],[6],[7],[8],[9],[10]</a:t>
            </a:r>
          </a:p>
          <a:p>
            <a:pPr algn="l">
              <a:lnSpc>
                <a:spcPts val="2807"/>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Source of water</a:t>
            </a:r>
          </a:p>
          <a:p>
            <a:pPr algn="l">
              <a:lnSpc>
                <a:spcPts val="2807"/>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More rainfall = higher harvesting potential</a:t>
            </a:r>
          </a:p>
          <a:p>
            <a:pPr algn="l">
              <a:lnSpc>
                <a:spcPts val="2807"/>
              </a:lnSpc>
            </a:pPr>
          </a:p>
          <a:p>
            <a:pPr algn="l">
              <a:lnSpc>
                <a:spcPts val="2807"/>
              </a:lnSpc>
            </a:pPr>
            <a:r>
              <a:rPr lang="en-US" sz="2599" b="true">
                <a:solidFill>
                  <a:srgbClr val="000000"/>
                </a:solidFill>
                <a:latin typeface="Times New Roman Bold"/>
                <a:ea typeface="Times New Roman Bold"/>
                <a:cs typeface="Times New Roman Bold"/>
                <a:sym typeface="Times New Roman Bold"/>
              </a:rPr>
              <a:t>6. Human Factor</a:t>
            </a:r>
          </a:p>
          <a:p>
            <a:pPr algn="l" marL="561339" indent="-280669" lvl="1">
              <a:lnSpc>
                <a:spcPts val="2807"/>
              </a:lnSpc>
              <a:buFont typeface="Arial"/>
              <a:buChar char="•"/>
            </a:pPr>
            <a:r>
              <a:rPr lang="en-US" sz="2599">
                <a:solidFill>
                  <a:srgbClr val="000000"/>
                </a:solidFill>
                <a:latin typeface="Times New Roman"/>
                <a:ea typeface="Times New Roman"/>
                <a:cs typeface="Times New Roman"/>
                <a:sym typeface="Times New Roman"/>
              </a:rPr>
              <a:t>Population Density [5],[6],[7]</a:t>
            </a:r>
          </a:p>
          <a:p>
            <a:pPr algn="l">
              <a:lnSpc>
                <a:spcPts val="2807"/>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Where water is actually needed</a:t>
            </a:r>
          </a:p>
          <a:p>
            <a:pPr algn="l">
              <a:lnSpc>
                <a:spcPts val="2807"/>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Makes solution practical and usable</a:t>
            </a:r>
          </a:p>
          <a:p>
            <a:pPr algn="l">
              <a:lnSpc>
                <a:spcPts val="2807"/>
              </a:lnSpc>
              <a:spcBef>
                <a:spcPct val="0"/>
              </a:spcBef>
            </a:pPr>
          </a:p>
        </p:txBody>
      </p:sp>
      <p:sp>
        <p:nvSpPr>
          <p:cNvPr name="TextBox 14" id="14"/>
          <p:cNvSpPr txBox="true"/>
          <p:nvPr/>
        </p:nvSpPr>
        <p:spPr>
          <a:xfrm rot="0">
            <a:off x="1257662" y="1935544"/>
            <a:ext cx="16146001" cy="1087374"/>
          </a:xfrm>
          <a:prstGeom prst="rect">
            <a:avLst/>
          </a:prstGeom>
        </p:spPr>
        <p:txBody>
          <a:bodyPr anchor="t" rtlCol="false" tIns="0" lIns="0" bIns="0" rIns="0">
            <a:spAutoFit/>
          </a:bodyPr>
          <a:lstStyle/>
          <a:p>
            <a:pPr algn="l">
              <a:lnSpc>
                <a:spcPts val="2808"/>
              </a:lnSpc>
              <a:spcBef>
                <a:spcPct val="0"/>
              </a:spcBef>
            </a:pPr>
            <a:r>
              <a:rPr lang="en-US" sz="2600">
                <a:solidFill>
                  <a:srgbClr val="000000"/>
                </a:solidFill>
                <a:latin typeface="Times New Roman"/>
                <a:ea typeface="Times New Roman"/>
                <a:cs typeface="Times New Roman"/>
                <a:sym typeface="Times New Roman"/>
              </a:rPr>
              <a:t>We selected the most impactful criteria by combining frequency from research papers and real-world applicability. These six parameters cover terrain, water flow, climate, land use, and human demand — giving a balanced and practical model for rainwater harvesting site selection.</a:t>
            </a:r>
          </a:p>
        </p:txBody>
      </p:sp>
      <p:sp>
        <p:nvSpPr>
          <p:cNvPr name="TextBox 15" id="15"/>
          <p:cNvSpPr txBox="true"/>
          <p:nvPr/>
        </p:nvSpPr>
        <p:spPr>
          <a:xfrm rot="0">
            <a:off x="6421106" y="625246"/>
            <a:ext cx="714308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Criteria Finalization</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867650" y="1976583"/>
            <a:ext cx="11569469" cy="7424056"/>
          </a:xfrm>
          <a:prstGeom prst="rect">
            <a:avLst/>
          </a:prstGeom>
        </p:spPr>
        <p:txBody>
          <a:bodyPr anchor="t" rtlCol="false" tIns="0" lIns="0" bIns="0" rIns="0">
            <a:spAutoFit/>
          </a:bodyPr>
          <a:lstStyle/>
          <a:p>
            <a:pPr algn="l">
              <a:lnSpc>
                <a:spcPts val="3639"/>
              </a:lnSpc>
            </a:pPr>
            <a:r>
              <a:rPr lang="en-US" sz="2599">
                <a:solidFill>
                  <a:srgbClr val="000000"/>
                </a:solidFill>
                <a:latin typeface="Times New Roman"/>
                <a:ea typeface="Times New Roman"/>
                <a:cs typeface="Times New Roman"/>
                <a:sym typeface="Times New Roman"/>
              </a:rPr>
              <a:t>   1) </a:t>
            </a:r>
            <a:r>
              <a:rPr lang="en-US" sz="2599" b="true">
                <a:solidFill>
                  <a:srgbClr val="000000"/>
                </a:solidFill>
                <a:latin typeface="Times New Roman Bold"/>
                <a:ea typeface="Times New Roman Bold"/>
                <a:cs typeface="Times New Roman Bold"/>
                <a:sym typeface="Times New Roman Bold"/>
              </a:rPr>
              <a:t>Data source</a:t>
            </a:r>
          </a:p>
          <a:p>
            <a:pPr algn="l" marL="539749" indent="-269875" lvl="1">
              <a:lnSpc>
                <a:spcPts val="3499"/>
              </a:lnSpc>
              <a:buFont typeface="Arial"/>
              <a:buChar char="•"/>
            </a:pPr>
            <a:r>
              <a:rPr lang="en-US" sz="2499">
                <a:solidFill>
                  <a:srgbClr val="000000"/>
                </a:solidFill>
                <a:latin typeface="Times New Roman"/>
                <a:ea typeface="Times New Roman"/>
                <a:cs typeface="Times New Roman"/>
                <a:sym typeface="Times New Roman"/>
              </a:rPr>
              <a:t>Dataset: </a:t>
            </a:r>
            <a:r>
              <a:rPr lang="en-US" b="true" sz="2499">
                <a:solidFill>
                  <a:srgbClr val="000000"/>
                </a:solidFill>
                <a:latin typeface="Times New Roman Bold"/>
                <a:ea typeface="Times New Roman Bold"/>
                <a:cs typeface="Times New Roman Bold"/>
                <a:sym typeface="Times New Roman Bold"/>
              </a:rPr>
              <a:t>GADM administrative boundaries</a:t>
            </a:r>
            <a:r>
              <a:rPr lang="en-US" sz="2499">
                <a:solidFill>
                  <a:srgbClr val="000000"/>
                </a:solidFill>
                <a:latin typeface="Times New Roman"/>
                <a:ea typeface="Times New Roman"/>
                <a:cs typeface="Times New Roman"/>
                <a:sym typeface="Times New Roman"/>
              </a:rPr>
              <a:t>, India </a:t>
            </a:r>
            <a:r>
              <a:rPr lang="en-US" b="true" sz="2499">
                <a:solidFill>
                  <a:srgbClr val="000000"/>
                </a:solidFill>
                <a:latin typeface="Times New Roman Bold"/>
                <a:ea typeface="Times New Roman Bold"/>
                <a:cs typeface="Times New Roman Bold"/>
                <a:sym typeface="Times New Roman Bold"/>
              </a:rPr>
              <a:t>ADM2 (district) </a:t>
            </a:r>
            <a:r>
              <a:rPr lang="en-US" sz="2499">
                <a:solidFill>
                  <a:srgbClr val="000000"/>
                </a:solidFill>
                <a:latin typeface="Times New Roman"/>
                <a:ea typeface="Times New Roman"/>
                <a:cs typeface="Times New Roman"/>
                <a:sym typeface="Times New Roman"/>
              </a:rPr>
              <a:t>layer</a:t>
            </a:r>
          </a:p>
          <a:p>
            <a:pPr algn="l" marL="539749" indent="-269875" lvl="1">
              <a:lnSpc>
                <a:spcPts val="3499"/>
              </a:lnSpc>
              <a:buFont typeface="Arial"/>
              <a:buChar char="•"/>
            </a:pPr>
            <a:r>
              <a:rPr lang="en-US" sz="2499">
                <a:solidFill>
                  <a:srgbClr val="000000"/>
                </a:solidFill>
                <a:latin typeface="Times New Roman"/>
                <a:ea typeface="Times New Roman"/>
                <a:cs typeface="Times New Roman"/>
                <a:sym typeface="Times New Roman"/>
              </a:rPr>
              <a:t>Geometry: District polygon</a:t>
            </a:r>
          </a:p>
          <a:p>
            <a:pPr algn="l" marL="539749" indent="-269875" lvl="1">
              <a:lnSpc>
                <a:spcPts val="3499"/>
              </a:lnSpc>
              <a:buFont typeface="Arial"/>
              <a:buChar char="•"/>
            </a:pPr>
            <a:r>
              <a:rPr lang="en-US" sz="2499">
                <a:solidFill>
                  <a:srgbClr val="000000"/>
                </a:solidFill>
                <a:latin typeface="Times New Roman"/>
                <a:ea typeface="Times New Roman"/>
                <a:cs typeface="Times New Roman"/>
                <a:sym typeface="Times New Roman"/>
              </a:rPr>
              <a:t>Typical CRS: EPSG:4326 (WGS 84) </a:t>
            </a:r>
          </a:p>
          <a:p>
            <a:pPr algn="l">
              <a:lnSpc>
                <a:spcPts val="3499"/>
              </a:lnSpc>
            </a:pPr>
          </a:p>
          <a:p>
            <a:pPr algn="l">
              <a:lnSpc>
                <a:spcPts val="3639"/>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2) </a:t>
            </a:r>
            <a:r>
              <a:rPr lang="en-US" sz="2599" b="true">
                <a:solidFill>
                  <a:srgbClr val="000000"/>
                </a:solidFill>
                <a:latin typeface="Times New Roman Bold"/>
                <a:ea typeface="Times New Roman Bold"/>
                <a:cs typeface="Times New Roman Bold"/>
                <a:sym typeface="Times New Roman Bold"/>
              </a:rPr>
              <a:t>Purpose </a:t>
            </a:r>
          </a:p>
          <a:p>
            <a:pPr algn="l" marL="539749" indent="-269875" lvl="1">
              <a:lnSpc>
                <a:spcPts val="3499"/>
              </a:lnSpc>
              <a:buFont typeface="Arial"/>
              <a:buChar char="•"/>
            </a:pPr>
            <a:r>
              <a:rPr lang="en-US" sz="2499">
                <a:solidFill>
                  <a:srgbClr val="000000"/>
                </a:solidFill>
                <a:latin typeface="Times New Roman"/>
                <a:ea typeface="Times New Roman"/>
                <a:cs typeface="Times New Roman"/>
                <a:sym typeface="Times New Roman"/>
              </a:rPr>
              <a:t>Defines the </a:t>
            </a:r>
            <a:r>
              <a:rPr lang="en-US" b="true" sz="2499">
                <a:solidFill>
                  <a:srgbClr val="000000"/>
                </a:solidFill>
                <a:latin typeface="Times New Roman Bold"/>
                <a:ea typeface="Times New Roman Bold"/>
                <a:cs typeface="Times New Roman Bold"/>
                <a:sym typeface="Times New Roman Bold"/>
              </a:rPr>
              <a:t>study area</a:t>
            </a:r>
            <a:r>
              <a:rPr lang="en-US" sz="2499">
                <a:solidFill>
                  <a:srgbClr val="000000"/>
                </a:solidFill>
                <a:latin typeface="Times New Roman"/>
                <a:ea typeface="Times New Roman"/>
                <a:cs typeface="Times New Roman"/>
                <a:sym typeface="Times New Roman"/>
              </a:rPr>
              <a:t> and is used as the </a:t>
            </a:r>
            <a:r>
              <a:rPr lang="en-US" b="true" sz="2499">
                <a:solidFill>
                  <a:srgbClr val="000000"/>
                </a:solidFill>
                <a:latin typeface="Times New Roman Bold"/>
                <a:ea typeface="Times New Roman Bold"/>
                <a:cs typeface="Times New Roman Bold"/>
                <a:sym typeface="Times New Roman Bold"/>
              </a:rPr>
              <a:t>mask</a:t>
            </a:r>
            <a:r>
              <a:rPr lang="en-US" sz="2499">
                <a:solidFill>
                  <a:srgbClr val="000000"/>
                </a:solidFill>
                <a:latin typeface="Times New Roman"/>
                <a:ea typeface="Times New Roman"/>
                <a:cs typeface="Times New Roman"/>
                <a:sym typeface="Times New Roman"/>
              </a:rPr>
              <a:t> to clip all rasters/vectors to Chandrapur.</a:t>
            </a:r>
          </a:p>
          <a:p>
            <a:pPr algn="l">
              <a:lnSpc>
                <a:spcPts val="3499"/>
              </a:lnSpc>
            </a:pPr>
          </a:p>
          <a:p>
            <a:pPr algn="l">
              <a:lnSpc>
                <a:spcPts val="3639"/>
              </a:lnSpc>
            </a:pPr>
            <a:r>
              <a:rPr lang="en-US" sz="2599">
                <a:solidFill>
                  <a:srgbClr val="000000"/>
                </a:solidFill>
                <a:latin typeface="Times New Roman"/>
                <a:ea typeface="Times New Roman"/>
                <a:cs typeface="Times New Roman"/>
                <a:sym typeface="Times New Roman"/>
              </a:rPr>
              <a:t>    </a:t>
            </a:r>
            <a:r>
              <a:rPr lang="en-US" sz="2599">
                <a:solidFill>
                  <a:srgbClr val="000000"/>
                </a:solidFill>
                <a:latin typeface="Times New Roman"/>
                <a:ea typeface="Times New Roman"/>
                <a:cs typeface="Times New Roman"/>
                <a:sym typeface="Times New Roman"/>
              </a:rPr>
              <a:t>3) </a:t>
            </a:r>
            <a:r>
              <a:rPr lang="en-US" sz="2599" b="true">
                <a:solidFill>
                  <a:srgbClr val="000000"/>
                </a:solidFill>
                <a:latin typeface="Times New Roman Bold"/>
                <a:ea typeface="Times New Roman Bold"/>
                <a:cs typeface="Times New Roman Bold"/>
                <a:sym typeface="Times New Roman Bold"/>
              </a:rPr>
              <a:t>Pre-processing required</a:t>
            </a:r>
          </a:p>
          <a:p>
            <a:pPr algn="l" marL="539749" indent="-269875" lvl="1">
              <a:lnSpc>
                <a:spcPts val="3499"/>
              </a:lnSpc>
              <a:buFont typeface="Arial"/>
              <a:buChar char="•"/>
            </a:pPr>
            <a:r>
              <a:rPr lang="en-US" sz="2499">
                <a:solidFill>
                  <a:srgbClr val="000000"/>
                </a:solidFill>
                <a:latin typeface="Times New Roman"/>
                <a:ea typeface="Times New Roman"/>
                <a:cs typeface="Times New Roman"/>
                <a:sym typeface="Times New Roman"/>
              </a:rPr>
              <a:t>Chandrapur district was extracted from the India ADM2 dataset by selecting/filtering the district feature and exporting it as a separate boundary layer. </a:t>
            </a:r>
          </a:p>
          <a:p>
            <a:pPr algn="l" marL="539749" indent="-269875" lvl="1">
              <a:lnSpc>
                <a:spcPts val="3499"/>
              </a:lnSpc>
              <a:buFont typeface="Arial"/>
              <a:buChar char="•"/>
            </a:pPr>
            <a:r>
              <a:rPr lang="en-US" sz="2499">
                <a:solidFill>
                  <a:srgbClr val="000000"/>
                </a:solidFill>
                <a:latin typeface="Times New Roman"/>
                <a:ea typeface="Times New Roman"/>
                <a:cs typeface="Times New Roman"/>
                <a:sym typeface="Times New Roman"/>
              </a:rPr>
              <a:t>A projected copy of the boundary was prepared in EPSG:32644 to ensure clean clipping/alignment with projected rasters. </a:t>
            </a:r>
          </a:p>
          <a:p>
            <a:pPr algn="l">
              <a:lnSpc>
                <a:spcPts val="3260"/>
              </a:lnSpc>
            </a:pPr>
          </a:p>
          <a:p>
            <a:pPr algn="l">
              <a:lnSpc>
                <a:spcPts val="3260"/>
              </a:lnSpc>
            </a:pPr>
          </a:p>
          <a:p>
            <a:pPr algn="l">
              <a:lnSpc>
                <a:spcPts val="3260"/>
              </a:lnSpc>
            </a:pPr>
          </a:p>
        </p:txBody>
      </p:sp>
      <p:sp>
        <p:nvSpPr>
          <p:cNvPr name="TextBox 13" id="13"/>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Chandrapur-Area Boundary</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name="Freeform 15" id="15"/>
          <p:cNvSpPr/>
          <p:nvPr/>
        </p:nvSpPr>
        <p:spPr>
          <a:xfrm flipH="false" flipV="false" rot="0">
            <a:off x="12437119" y="2708081"/>
            <a:ext cx="5357922" cy="4870838"/>
          </a:xfrm>
          <a:custGeom>
            <a:avLst/>
            <a:gdLst/>
            <a:ahLst/>
            <a:cxnLst/>
            <a:rect r="r" b="b" t="t" l="l"/>
            <a:pathLst>
              <a:path h="4870838" w="5357922">
                <a:moveTo>
                  <a:pt x="0" y="0"/>
                </a:moveTo>
                <a:lnTo>
                  <a:pt x="5357922" y="0"/>
                </a:lnTo>
                <a:lnTo>
                  <a:pt x="5357922" y="4870838"/>
                </a:lnTo>
                <a:lnTo>
                  <a:pt x="0" y="4870838"/>
                </a:lnTo>
                <a:lnTo>
                  <a:pt x="0" y="0"/>
                </a:lnTo>
                <a:close/>
              </a:path>
            </a:pathLst>
          </a:custGeom>
          <a:blipFill>
            <a:blip r:embed="rId4"/>
            <a:stretch>
              <a:fillRect l="-59224" t="-37557" r="-18483" b="-20524"/>
            </a:stretch>
          </a:blipFill>
          <a:ln w="28575" cap="sq">
            <a:solidFill>
              <a:srgbClr val="000000"/>
            </a:solidFill>
            <a:prstDash val="solid"/>
            <a:miter/>
          </a:ln>
        </p:spPr>
      </p:sp>
      <p:sp>
        <p:nvSpPr>
          <p:cNvPr name="TextBox 16" id="16"/>
          <p:cNvSpPr txBox="true"/>
          <p:nvPr/>
        </p:nvSpPr>
        <p:spPr>
          <a:xfrm rot="0">
            <a:off x="13039666" y="7828176"/>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Fig1. Chandrapur Boundary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 - Elevation(DEM)</a:t>
            </a:r>
          </a:p>
        </p:txBody>
      </p:sp>
      <p:sp>
        <p:nvSpPr>
          <p:cNvPr name="TextBox 13" id="13"/>
          <p:cNvSpPr txBox="true"/>
          <p:nvPr/>
        </p:nvSpPr>
        <p:spPr>
          <a:xfrm rot="0">
            <a:off x="1028700" y="1779304"/>
            <a:ext cx="11239467" cy="6766959"/>
          </a:xfrm>
          <a:prstGeom prst="rect">
            <a:avLst/>
          </a:prstGeom>
        </p:spPr>
        <p:txBody>
          <a:bodyPr anchor="t" rtlCol="false" tIns="0" lIns="0" bIns="0" rIns="0">
            <a:spAutoFit/>
          </a:bodyPr>
          <a:lstStyle/>
          <a:p>
            <a:pPr algn="l">
              <a:lnSpc>
                <a:spcPts val="3513"/>
              </a:lnSpc>
            </a:pPr>
            <a:r>
              <a:rPr lang="en-US" sz="2509">
                <a:solidFill>
                  <a:srgbClr val="000000"/>
                </a:solidFill>
                <a:latin typeface="Times New Roman"/>
                <a:ea typeface="Times New Roman"/>
                <a:cs typeface="Times New Roman"/>
                <a:sym typeface="Times New Roman"/>
              </a:rPr>
              <a:t>   1) </a:t>
            </a:r>
            <a:r>
              <a:rPr lang="en-US" sz="2509" b="true">
                <a:solidFill>
                  <a:srgbClr val="000000"/>
                </a:solidFill>
                <a:latin typeface="Times New Roman Bold"/>
                <a:ea typeface="Times New Roman Bold"/>
                <a:cs typeface="Times New Roman Bold"/>
                <a:sym typeface="Times New Roman Bold"/>
              </a:rPr>
              <a:t>Data source</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Dataset: </a:t>
            </a:r>
            <a:r>
              <a:rPr lang="en-US" b="true" sz="2409">
                <a:solidFill>
                  <a:srgbClr val="000000"/>
                </a:solidFill>
                <a:latin typeface="Times New Roman Bold"/>
                <a:ea typeface="Times New Roman Bold"/>
                <a:cs typeface="Times New Roman Bold"/>
                <a:sym typeface="Times New Roman Bold"/>
              </a:rPr>
              <a:t>HydroSHEDS Conditioned DEM (CONDEM)</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Product: DEM GeoTIFF from </a:t>
            </a:r>
            <a:r>
              <a:rPr lang="en-US" b="true" sz="2409">
                <a:solidFill>
                  <a:srgbClr val="000000"/>
                </a:solidFill>
                <a:latin typeface="Times New Roman Bold"/>
                <a:ea typeface="Times New Roman Bold"/>
                <a:cs typeface="Times New Roman Bold"/>
                <a:sym typeface="Times New Roman Bold"/>
              </a:rPr>
              <a:t>OpenTopography</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Spatial resolution: ~3 arc-second (~9</a:t>
            </a:r>
            <a:r>
              <a:rPr lang="en-US" sz="2409">
                <a:solidFill>
                  <a:srgbClr val="000000"/>
                </a:solidFill>
                <a:latin typeface="Times New Roman"/>
                <a:ea typeface="Times New Roman"/>
                <a:cs typeface="Times New Roman"/>
                <a:sym typeface="Times New Roman"/>
              </a:rPr>
              <a:t>0 m</a:t>
            </a:r>
            <a:r>
              <a:rPr lang="en-US" sz="2409">
                <a:solidFill>
                  <a:srgbClr val="000000"/>
                </a:solidFill>
                <a:latin typeface="Times New Roman"/>
                <a:ea typeface="Times New Roman"/>
                <a:cs typeface="Times New Roman"/>
                <a:sym typeface="Times New Roman"/>
              </a:rPr>
              <a:t>)</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Native CRS: EPSG:4326 (WGS 84)</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Units: elevation in </a:t>
            </a:r>
            <a:r>
              <a:rPr lang="en-US" b="true" sz="2409">
                <a:solidFill>
                  <a:srgbClr val="000000"/>
                </a:solidFill>
                <a:latin typeface="Times New Roman Bold"/>
                <a:ea typeface="Times New Roman Bold"/>
                <a:cs typeface="Times New Roman Bold"/>
                <a:sym typeface="Times New Roman Bold"/>
              </a:rPr>
              <a:t>meters</a:t>
            </a:r>
          </a:p>
          <a:p>
            <a:pPr algn="l">
              <a:lnSpc>
                <a:spcPts val="3513"/>
              </a:lnSpc>
            </a:pPr>
            <a:r>
              <a:rPr lang="en-US" sz="2509">
                <a:solidFill>
                  <a:srgbClr val="000000"/>
                </a:solidFill>
                <a:latin typeface="Times New Roman"/>
                <a:ea typeface="Times New Roman"/>
                <a:cs typeface="Times New Roman"/>
                <a:sym typeface="Times New Roman"/>
              </a:rPr>
              <a:t>    </a:t>
            </a:r>
            <a:r>
              <a:rPr lang="en-US" sz="2509">
                <a:solidFill>
                  <a:srgbClr val="000000"/>
                </a:solidFill>
                <a:latin typeface="Times New Roman"/>
                <a:ea typeface="Times New Roman"/>
                <a:cs typeface="Times New Roman"/>
                <a:sym typeface="Times New Roman"/>
              </a:rPr>
              <a:t>2) </a:t>
            </a:r>
            <a:r>
              <a:rPr lang="en-US" sz="2509" b="true">
                <a:solidFill>
                  <a:srgbClr val="000000"/>
                </a:solidFill>
                <a:latin typeface="Times New Roman Bold"/>
                <a:ea typeface="Times New Roman Bold"/>
                <a:cs typeface="Times New Roman Bold"/>
                <a:sym typeface="Times New Roman Bold"/>
              </a:rPr>
              <a:t>Purpose</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 Elevation influences groundwater occurrence (topographic control).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 Base layer to derive slope (and optional DEM-based hydrology derivatives).</a:t>
            </a:r>
          </a:p>
          <a:p>
            <a:pPr algn="l">
              <a:lnSpc>
                <a:spcPts val="3513"/>
              </a:lnSpc>
            </a:pPr>
            <a:r>
              <a:rPr lang="en-US" sz="2509">
                <a:solidFill>
                  <a:srgbClr val="000000"/>
                </a:solidFill>
                <a:latin typeface="Times New Roman"/>
                <a:ea typeface="Times New Roman"/>
                <a:cs typeface="Times New Roman"/>
                <a:sym typeface="Times New Roman"/>
              </a:rPr>
              <a:t>    </a:t>
            </a:r>
            <a:r>
              <a:rPr lang="en-US" sz="2509">
                <a:solidFill>
                  <a:srgbClr val="000000"/>
                </a:solidFill>
                <a:latin typeface="Times New Roman"/>
                <a:ea typeface="Times New Roman"/>
                <a:cs typeface="Times New Roman"/>
                <a:sym typeface="Times New Roman"/>
              </a:rPr>
              <a:t>3) </a:t>
            </a:r>
            <a:r>
              <a:rPr lang="en-US" sz="2509" b="true">
                <a:solidFill>
                  <a:srgbClr val="000000"/>
                </a:solidFill>
                <a:latin typeface="Times New Roman Bold"/>
                <a:ea typeface="Times New Roman Bold"/>
                <a:cs typeface="Times New Roman Bold"/>
                <a:sym typeface="Times New Roman Bold"/>
              </a:rPr>
              <a:t>Pre-processing required</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HydroSHEDS</a:t>
            </a:r>
            <a:r>
              <a:rPr lang="en-US" sz="2409">
                <a:solidFill>
                  <a:srgbClr val="000000"/>
                </a:solidFill>
                <a:latin typeface="Times New Roman"/>
                <a:ea typeface="Times New Roman"/>
                <a:cs typeface="Times New Roman"/>
                <a:sym typeface="Times New Roman"/>
              </a:rPr>
              <a:t> CONDEM tiles covering the study area were downloaded and extracted, then mosaicked/merged to form a continuous DEM.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The DEM was clipped to the Chandrapur boundary and saved as a district-only GeoTIFF.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A projected analysis copy was created in EPSG:32644 using GDAL Warp with continuous-data resampling (Bilinear/Cubic) and Float32 output.</a:t>
            </a:r>
          </a:p>
        </p:txBody>
      </p:sp>
      <p:sp>
        <p:nvSpPr>
          <p:cNvPr name="Freeform 14" id="14"/>
          <p:cNvSpPr/>
          <p:nvPr/>
        </p:nvSpPr>
        <p:spPr>
          <a:xfrm flipH="false" flipV="false" rot="0">
            <a:off x="12508949" y="2360996"/>
            <a:ext cx="5492105" cy="5867569"/>
          </a:xfrm>
          <a:custGeom>
            <a:avLst/>
            <a:gdLst/>
            <a:ahLst/>
            <a:cxnLst/>
            <a:rect r="r" b="b" t="t" l="l"/>
            <a:pathLst>
              <a:path h="5867569" w="5492105">
                <a:moveTo>
                  <a:pt x="0" y="0"/>
                </a:moveTo>
                <a:lnTo>
                  <a:pt x="5492105" y="0"/>
                </a:lnTo>
                <a:lnTo>
                  <a:pt x="5492105" y="5867570"/>
                </a:lnTo>
                <a:lnTo>
                  <a:pt x="0" y="5867570"/>
                </a:lnTo>
                <a:lnTo>
                  <a:pt x="0" y="0"/>
                </a:lnTo>
                <a:close/>
              </a:path>
            </a:pathLst>
          </a:custGeom>
          <a:blipFill>
            <a:blip r:embed="rId4"/>
            <a:stretch>
              <a:fillRect l="-14180" t="0" r="-16505" b="0"/>
            </a:stretch>
          </a:blipFill>
          <a:ln w="28575" cap="sq">
            <a:solidFill>
              <a:srgbClr val="000000"/>
            </a:solidFill>
            <a:prstDash val="solid"/>
            <a:miter/>
          </a:ln>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name="TextBox 16" id="16"/>
          <p:cNvSpPr txBox="true"/>
          <p:nvPr/>
        </p:nvSpPr>
        <p:spPr>
          <a:xfrm rot="0">
            <a:off x="13178045" y="8372788"/>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Fig2. Chandrapur Elevation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028700" y="1779304"/>
            <a:ext cx="11239467" cy="6766959"/>
          </a:xfrm>
          <a:prstGeom prst="rect">
            <a:avLst/>
          </a:prstGeom>
        </p:spPr>
        <p:txBody>
          <a:bodyPr anchor="t" rtlCol="false" tIns="0" lIns="0" bIns="0" rIns="0">
            <a:spAutoFit/>
          </a:bodyPr>
          <a:lstStyle/>
          <a:p>
            <a:pPr algn="l">
              <a:lnSpc>
                <a:spcPts val="3513"/>
              </a:lnSpc>
            </a:pPr>
            <a:r>
              <a:rPr lang="en-US" sz="2509">
                <a:solidFill>
                  <a:srgbClr val="000000"/>
                </a:solidFill>
                <a:latin typeface="Times New Roman"/>
                <a:ea typeface="Times New Roman"/>
                <a:cs typeface="Times New Roman"/>
                <a:sym typeface="Times New Roman"/>
              </a:rPr>
              <a:t>   1) </a:t>
            </a:r>
            <a:r>
              <a:rPr lang="en-US" sz="2509" b="true">
                <a:solidFill>
                  <a:srgbClr val="000000"/>
                </a:solidFill>
                <a:latin typeface="Times New Roman Bold"/>
                <a:ea typeface="Times New Roman Bold"/>
                <a:cs typeface="Times New Roman Bold"/>
                <a:sym typeface="Times New Roman Bold"/>
              </a:rPr>
              <a:t>Data source</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Dataset: </a:t>
            </a:r>
            <a:r>
              <a:rPr lang="en-US" b="true" sz="2409">
                <a:solidFill>
                  <a:srgbClr val="000000"/>
                </a:solidFill>
                <a:latin typeface="Times New Roman Bold"/>
                <a:ea typeface="Times New Roman Bold"/>
                <a:cs typeface="Times New Roman Bold"/>
                <a:sym typeface="Times New Roman Bold"/>
              </a:rPr>
              <a:t>HydroSHEDS Conditioned DEM (CONDEM)</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Product: DEM GeoTIFF from </a:t>
            </a:r>
            <a:r>
              <a:rPr lang="en-US" b="true" sz="2409">
                <a:solidFill>
                  <a:srgbClr val="000000"/>
                </a:solidFill>
                <a:latin typeface="Times New Roman Bold"/>
                <a:ea typeface="Times New Roman Bold"/>
                <a:cs typeface="Times New Roman Bold"/>
                <a:sym typeface="Times New Roman Bold"/>
              </a:rPr>
              <a:t>OpenTopography</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Spatial resolution: same as the DEM used for slope (~90 m)</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Native CRS: EPSG:4326 (WGS 84)</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Units: degrees or percent</a:t>
            </a:r>
          </a:p>
          <a:p>
            <a:pPr algn="l">
              <a:lnSpc>
                <a:spcPts val="3513"/>
              </a:lnSpc>
            </a:pPr>
            <a:r>
              <a:rPr lang="en-US" sz="2509">
                <a:solidFill>
                  <a:srgbClr val="000000"/>
                </a:solidFill>
                <a:latin typeface="Times New Roman"/>
                <a:ea typeface="Times New Roman"/>
                <a:cs typeface="Times New Roman"/>
                <a:sym typeface="Times New Roman"/>
              </a:rPr>
              <a:t>    </a:t>
            </a:r>
            <a:r>
              <a:rPr lang="en-US" sz="2509">
                <a:solidFill>
                  <a:srgbClr val="000000"/>
                </a:solidFill>
                <a:latin typeface="Times New Roman"/>
                <a:ea typeface="Times New Roman"/>
                <a:cs typeface="Times New Roman"/>
                <a:sym typeface="Times New Roman"/>
              </a:rPr>
              <a:t>2) </a:t>
            </a:r>
            <a:r>
              <a:rPr lang="en-US" sz="2509" b="true">
                <a:solidFill>
                  <a:srgbClr val="000000"/>
                </a:solidFill>
                <a:latin typeface="Times New Roman Bold"/>
                <a:ea typeface="Times New Roman Bold"/>
                <a:cs typeface="Times New Roman Bold"/>
                <a:sym typeface="Times New Roman Bold"/>
              </a:rPr>
              <a:t>Purpose</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Slope controls infiltration vs runoff: gentle slopes generally support higher recharge potential. </a:t>
            </a:r>
          </a:p>
          <a:p>
            <a:pPr algn="l">
              <a:lnSpc>
                <a:spcPts val="3513"/>
              </a:lnSpc>
            </a:pPr>
            <a:r>
              <a:rPr lang="en-US" sz="2509">
                <a:solidFill>
                  <a:srgbClr val="000000"/>
                </a:solidFill>
                <a:latin typeface="Times New Roman"/>
                <a:ea typeface="Times New Roman"/>
                <a:cs typeface="Times New Roman"/>
                <a:sym typeface="Times New Roman"/>
              </a:rPr>
              <a:t>    </a:t>
            </a:r>
            <a:r>
              <a:rPr lang="en-US" sz="2509">
                <a:solidFill>
                  <a:srgbClr val="000000"/>
                </a:solidFill>
                <a:latin typeface="Times New Roman"/>
                <a:ea typeface="Times New Roman"/>
                <a:cs typeface="Times New Roman"/>
                <a:sym typeface="Times New Roman"/>
              </a:rPr>
              <a:t>3) </a:t>
            </a:r>
            <a:r>
              <a:rPr lang="en-US" sz="2509" b="true">
                <a:solidFill>
                  <a:srgbClr val="000000"/>
                </a:solidFill>
                <a:latin typeface="Times New Roman Bold"/>
                <a:ea typeface="Times New Roman Bold"/>
                <a:cs typeface="Times New Roman Bold"/>
                <a:sym typeface="Times New Roman Bold"/>
              </a:rPr>
              <a:t>Pre-processing required</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Slope was generated from the projected analysis DEM in EPSG:32644 using QGIS Processing (GDAL) `Slope`.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Standard settings were used (z-factor/vertical-to-horizontal ratio = 1.0; Horn method default unless changed).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The output was saved as a Chandrapur-only GeoTIFF and later reclassified into suitability classes for AHP/weighted overlay.</a:t>
            </a:r>
          </a:p>
        </p:txBody>
      </p:sp>
      <p:sp>
        <p:nvSpPr>
          <p:cNvPr name="Freeform 13" id="13"/>
          <p:cNvSpPr/>
          <p:nvPr/>
        </p:nvSpPr>
        <p:spPr>
          <a:xfrm flipH="false" flipV="false" rot="0">
            <a:off x="12268167" y="2057346"/>
            <a:ext cx="5648868" cy="5888979"/>
          </a:xfrm>
          <a:custGeom>
            <a:avLst/>
            <a:gdLst/>
            <a:ahLst/>
            <a:cxnLst/>
            <a:rect r="r" b="b" t="t" l="l"/>
            <a:pathLst>
              <a:path h="5888979" w="5648868">
                <a:moveTo>
                  <a:pt x="0" y="0"/>
                </a:moveTo>
                <a:lnTo>
                  <a:pt x="5648867" y="0"/>
                </a:lnTo>
                <a:lnTo>
                  <a:pt x="5648867" y="5888979"/>
                </a:lnTo>
                <a:lnTo>
                  <a:pt x="0" y="5888979"/>
                </a:lnTo>
                <a:lnTo>
                  <a:pt x="0" y="0"/>
                </a:lnTo>
                <a:close/>
              </a:path>
            </a:pathLst>
          </a:custGeom>
          <a:blipFill>
            <a:blip r:embed="rId4"/>
            <a:stretch>
              <a:fillRect l="-3040" t="0" r="-5836" b="0"/>
            </a:stretch>
          </a:blipFill>
          <a:ln w="38100" cap="sq">
            <a:solidFill>
              <a:srgbClr val="000000"/>
            </a:solidFill>
            <a:prstDash val="solid"/>
            <a:miter/>
          </a:ln>
        </p:spPr>
      </p:sp>
      <p:sp>
        <p:nvSpPr>
          <p:cNvPr name="TextBox 14" id="14"/>
          <p:cNvSpPr txBox="true"/>
          <p:nvPr/>
        </p:nvSpPr>
        <p:spPr>
          <a:xfrm rot="0">
            <a:off x="4384714" y="649415"/>
            <a:ext cx="11856537"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 - Slope </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name="TextBox 16" id="16"/>
          <p:cNvSpPr txBox="true"/>
          <p:nvPr/>
        </p:nvSpPr>
        <p:spPr>
          <a:xfrm rot="0">
            <a:off x="13178045" y="8187488"/>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Fig3. Chandrapur Slope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 - Precipitation</a:t>
            </a:r>
          </a:p>
        </p:txBody>
      </p:sp>
      <p:sp>
        <p:nvSpPr>
          <p:cNvPr name="Freeform 13" id="13"/>
          <p:cNvSpPr/>
          <p:nvPr/>
        </p:nvSpPr>
        <p:spPr>
          <a:xfrm flipH="false" flipV="false" rot="0">
            <a:off x="12324072" y="2213152"/>
            <a:ext cx="5621742" cy="6092903"/>
          </a:xfrm>
          <a:custGeom>
            <a:avLst/>
            <a:gdLst/>
            <a:ahLst/>
            <a:cxnLst/>
            <a:rect r="r" b="b" t="t" l="l"/>
            <a:pathLst>
              <a:path h="6092903" w="5621742">
                <a:moveTo>
                  <a:pt x="0" y="0"/>
                </a:moveTo>
                <a:lnTo>
                  <a:pt x="5621742" y="0"/>
                </a:lnTo>
                <a:lnTo>
                  <a:pt x="5621742" y="6092903"/>
                </a:lnTo>
                <a:lnTo>
                  <a:pt x="0" y="6092903"/>
                </a:lnTo>
                <a:lnTo>
                  <a:pt x="0" y="0"/>
                </a:lnTo>
                <a:close/>
              </a:path>
            </a:pathLst>
          </a:custGeom>
          <a:blipFill>
            <a:blip r:embed="rId4"/>
            <a:stretch>
              <a:fillRect l="-25175" t="0" r="-20546" b="0"/>
            </a:stretch>
          </a:blipFill>
          <a:ln w="28575" cap="sq">
            <a:solidFill>
              <a:srgbClr val="000000"/>
            </a:solidFill>
            <a:prstDash val="solid"/>
            <a:miter/>
          </a:ln>
        </p:spPr>
      </p:sp>
      <p:sp>
        <p:nvSpPr>
          <p:cNvPr name="TextBox 14" id="14"/>
          <p:cNvSpPr txBox="true"/>
          <p:nvPr/>
        </p:nvSpPr>
        <p:spPr>
          <a:xfrm rot="0">
            <a:off x="1028700" y="1495892"/>
            <a:ext cx="11198785" cy="9328032"/>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a:ea typeface="Times New Roman"/>
                <a:cs typeface="Times New Roman"/>
                <a:sym typeface="Times New Roman"/>
              </a:rPr>
              <a:t>   1) </a:t>
            </a:r>
            <a:r>
              <a:rPr lang="en-US" sz="2499" b="true">
                <a:solidFill>
                  <a:srgbClr val="000000"/>
                </a:solidFill>
                <a:latin typeface="Times New Roman Bold"/>
                <a:ea typeface="Times New Roman Bold"/>
                <a:cs typeface="Times New Roman Bold"/>
                <a:sym typeface="Times New Roman Bold"/>
              </a:rPr>
              <a:t>Data source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Dataset: </a:t>
            </a:r>
            <a:r>
              <a:rPr lang="en-US" b="true" sz="2400">
                <a:solidFill>
                  <a:srgbClr val="000000"/>
                </a:solidFill>
                <a:latin typeface="Times New Roman Bold"/>
                <a:ea typeface="Times New Roman Bold"/>
                <a:cs typeface="Times New Roman Bold"/>
                <a:sym typeface="Times New Roman Bold"/>
              </a:rPr>
              <a:t>CHIRPS </a:t>
            </a:r>
            <a:r>
              <a:rPr lang="en-US" sz="2400">
                <a:solidFill>
                  <a:srgbClr val="000000"/>
                </a:solidFill>
                <a:latin typeface="Times New Roman"/>
                <a:ea typeface="Times New Roman"/>
                <a:cs typeface="Times New Roman"/>
                <a:sym typeface="Times New Roman"/>
              </a:rPr>
              <a:t>monthly precipitation</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Period: </a:t>
            </a:r>
            <a:r>
              <a:rPr lang="en-US" b="true" sz="2400">
                <a:solidFill>
                  <a:srgbClr val="000000"/>
                </a:solidFill>
                <a:latin typeface="Times New Roman Bold"/>
                <a:ea typeface="Times New Roman Bold"/>
                <a:cs typeface="Times New Roman Bold"/>
                <a:sym typeface="Times New Roman Bold"/>
              </a:rPr>
              <a:t>2024</a:t>
            </a:r>
            <a:r>
              <a:rPr lang="en-US" sz="2400">
                <a:solidFill>
                  <a:srgbClr val="000000"/>
                </a:solidFill>
                <a:latin typeface="Times New Roman"/>
                <a:ea typeface="Times New Roman"/>
                <a:cs typeface="Times New Roman"/>
                <a:sym typeface="Times New Roman"/>
              </a:rPr>
              <a:t> and </a:t>
            </a:r>
            <a:r>
              <a:rPr lang="en-US" b="true" sz="2400">
                <a:solidFill>
                  <a:srgbClr val="000000"/>
                </a:solidFill>
                <a:latin typeface="Times New Roman Bold"/>
                <a:ea typeface="Times New Roman Bold"/>
                <a:cs typeface="Times New Roman Bold"/>
                <a:sym typeface="Times New Roman Bold"/>
              </a:rPr>
              <a:t>2025</a:t>
            </a:r>
            <a:r>
              <a:rPr lang="en-US" sz="2400">
                <a:solidFill>
                  <a:srgbClr val="000000"/>
                </a:solidFill>
                <a:latin typeface="Times New Roman"/>
                <a:ea typeface="Times New Roman"/>
                <a:cs typeface="Times New Roman"/>
                <a:sym typeface="Times New Roman"/>
              </a:rPr>
              <a:t>, 12 monthly rasters per year</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Resolution: </a:t>
            </a:r>
            <a:r>
              <a:rPr lang="en-US" b="true" sz="2400">
                <a:solidFill>
                  <a:srgbClr val="000000"/>
                </a:solidFill>
                <a:latin typeface="Times New Roman Bold"/>
                <a:ea typeface="Times New Roman Bold"/>
                <a:cs typeface="Times New Roman Bold"/>
                <a:sym typeface="Times New Roman Bold"/>
              </a:rPr>
              <a:t>0.05°</a:t>
            </a:r>
            <a:r>
              <a:rPr lang="en-US" sz="2400">
                <a:solidFill>
                  <a:srgbClr val="000000"/>
                </a:solidFill>
                <a:latin typeface="Times New Roman"/>
                <a:ea typeface="Times New Roman"/>
                <a:cs typeface="Times New Roman"/>
                <a:sym typeface="Times New Roman"/>
              </a:rPr>
              <a:t> (~5–6 km)</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CRS: EPSG:4326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Units: </a:t>
            </a:r>
            <a:r>
              <a:rPr lang="en-US" b="true" sz="2400">
                <a:solidFill>
                  <a:srgbClr val="000000"/>
                </a:solidFill>
                <a:latin typeface="Times New Roman Bold"/>
                <a:ea typeface="Times New Roman Bold"/>
                <a:cs typeface="Times New Roman Bold"/>
                <a:sym typeface="Times New Roman Bold"/>
              </a:rPr>
              <a:t>mm/month</a:t>
            </a:r>
            <a:r>
              <a:rPr lang="en-US" sz="2400">
                <a:solidFill>
                  <a:srgbClr val="000000"/>
                </a:solidFill>
                <a:latin typeface="Times New Roman"/>
                <a:ea typeface="Times New Roman"/>
                <a:cs typeface="Times New Roman"/>
                <a:sym typeface="Times New Roman"/>
              </a:rPr>
              <a:t> (monthly total)</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 </a:t>
            </a:r>
            <a:r>
              <a:rPr lang="en-US" sz="2499" b="true">
                <a:solidFill>
                  <a:srgbClr val="000000"/>
                </a:solidFill>
                <a:latin typeface="Times New Roman Bold"/>
                <a:ea typeface="Times New Roman Bold"/>
                <a:cs typeface="Times New Roman Bold"/>
                <a:sym typeface="Times New Roman Bold"/>
              </a:rPr>
              <a:t>  </a:t>
            </a:r>
            <a:r>
              <a:rPr lang="en-US" sz="2499" b="true">
                <a:solidFill>
                  <a:srgbClr val="000000"/>
                </a:solidFill>
                <a:latin typeface="Times New Roman Bold"/>
                <a:ea typeface="Times New Roman Bold"/>
                <a:cs typeface="Times New Roman Bold"/>
                <a:sym typeface="Times New Roman Bold"/>
              </a:rPr>
              <a:t>2) Purpose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Rainfall is a key driver of recharge/runoff; annual or monsoon totals are directly useful for suitability/RWH planning.</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3) </a:t>
            </a:r>
            <a:r>
              <a:rPr lang="en-US" sz="2499" b="true">
                <a:solidFill>
                  <a:srgbClr val="000000"/>
                </a:solidFill>
                <a:latin typeface="Times New Roman Bold"/>
                <a:ea typeface="Times New Roman Bold"/>
                <a:cs typeface="Times New Roman Bold"/>
                <a:sym typeface="Times New Roman Bold"/>
              </a:rPr>
              <a:t>Pre-processing required</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Monthly CHIRPS rasters for the selected year(s) were downloaded and batch-clipped to the Chandrapur boundary.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Monthly totals were aggregated to annual totals (sum of 12 months) per year; for multi-year rainfall, annual totals were averaged to obtain a mean annual rainfall surface.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final rainfall raster was reprojected/aligned to EPSG:32644 (common CRS, pixel size, and extent) for weighted overlay. </a:t>
            </a:r>
          </a:p>
          <a:p>
            <a:pPr algn="l">
              <a:lnSpc>
                <a:spcPts val="3513"/>
              </a:lnSpc>
            </a:pPr>
          </a:p>
          <a:p>
            <a:pPr algn="l">
              <a:lnSpc>
                <a:spcPts val="3513"/>
              </a:lnSpc>
            </a:pPr>
          </a:p>
          <a:p>
            <a:pPr algn="l">
              <a:lnSpc>
                <a:spcPts val="3513"/>
              </a:lnSpc>
            </a:pP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
        <p:nvSpPr>
          <p:cNvPr name="TextBox 16" id="16"/>
          <p:cNvSpPr txBox="true"/>
          <p:nvPr/>
        </p:nvSpPr>
        <p:spPr>
          <a:xfrm rot="0">
            <a:off x="13178045" y="8372788"/>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Fig4. Chandrapur Precipitation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028700" y="1495892"/>
            <a:ext cx="11198785" cy="8070732"/>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a:ea typeface="Times New Roman"/>
                <a:cs typeface="Times New Roman"/>
                <a:sym typeface="Times New Roman"/>
              </a:rPr>
              <a:t>   1) </a:t>
            </a:r>
            <a:r>
              <a:rPr lang="en-US" sz="2499" b="true">
                <a:solidFill>
                  <a:srgbClr val="000000"/>
                </a:solidFill>
                <a:latin typeface="Times New Roman Bold"/>
                <a:ea typeface="Times New Roman Bold"/>
                <a:cs typeface="Times New Roman Bold"/>
                <a:sym typeface="Times New Roman Bold"/>
              </a:rPr>
              <a:t>Data source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Dataset: </a:t>
            </a:r>
            <a:r>
              <a:rPr lang="en-US" b="true" sz="2400">
                <a:solidFill>
                  <a:srgbClr val="000000"/>
                </a:solidFill>
                <a:latin typeface="Times New Roman Bold"/>
                <a:ea typeface="Times New Roman Bold"/>
                <a:cs typeface="Times New Roman Bold"/>
                <a:sym typeface="Times New Roman Bold"/>
              </a:rPr>
              <a:t>SoilGrids250m (2017-03)</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Period: </a:t>
            </a:r>
            <a:r>
              <a:rPr lang="en-US" b="true" sz="2400">
                <a:solidFill>
                  <a:srgbClr val="000000"/>
                </a:solidFill>
                <a:latin typeface="Times New Roman Bold"/>
                <a:ea typeface="Times New Roman Bold"/>
                <a:cs typeface="Times New Roman Bold"/>
                <a:sym typeface="Times New Roman Bold"/>
              </a:rPr>
              <a:t>1950–2015</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Resolution: 250m</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CRS: EPSG:4326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Units: categorical classes stored as integers </a:t>
            </a:r>
            <a:r>
              <a:rPr lang="en-US" b="true" sz="2400">
                <a:solidFill>
                  <a:srgbClr val="000000"/>
                </a:solidFill>
                <a:latin typeface="Times New Roman Bold"/>
                <a:ea typeface="Times New Roman Bold"/>
                <a:cs typeface="Times New Roman Bold"/>
                <a:sym typeface="Times New Roman Bold"/>
              </a:rPr>
              <a:t>(GeoTIFF) </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 </a:t>
            </a:r>
            <a:r>
              <a:rPr lang="en-US" sz="2499" b="true">
                <a:solidFill>
                  <a:srgbClr val="000000"/>
                </a:solidFill>
                <a:latin typeface="Times New Roman Bold"/>
                <a:ea typeface="Times New Roman Bold"/>
                <a:cs typeface="Times New Roman Bold"/>
                <a:sym typeface="Times New Roman Bold"/>
              </a:rPr>
              <a:t>  </a:t>
            </a:r>
            <a:r>
              <a:rPr lang="en-US" sz="2499" b="true">
                <a:solidFill>
                  <a:srgbClr val="000000"/>
                </a:solidFill>
                <a:latin typeface="Times New Roman Bold"/>
                <a:ea typeface="Times New Roman Bold"/>
                <a:cs typeface="Times New Roman Bold"/>
                <a:sym typeface="Times New Roman Bold"/>
              </a:rPr>
              <a:t>2) Purpose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Soil characteristics influence infiltration/permeability and groundwater recharge potential. </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3) </a:t>
            </a:r>
            <a:r>
              <a:rPr lang="en-US" sz="2499" b="true">
                <a:solidFill>
                  <a:srgbClr val="000000"/>
                </a:solidFill>
                <a:latin typeface="Times New Roman Bold"/>
                <a:ea typeface="Times New Roman Bold"/>
                <a:cs typeface="Times New Roman Bold"/>
                <a:sym typeface="Times New Roman Bold"/>
              </a:rPr>
              <a:t>Pre-processing required</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SoilGrids GeoTIFF was downloaded and clipped to Chandrapur. The soil layer was reprojected to EPSG:32644 using nearest-neighbor resampling (categorical), aligned to the raster stack, and reclassified into suitability ranks based on the project’s soil interpretation.</a:t>
            </a:r>
          </a:p>
          <a:p>
            <a:pPr algn="l">
              <a:lnSpc>
                <a:spcPts val="3513"/>
              </a:lnSpc>
            </a:pPr>
          </a:p>
          <a:p>
            <a:pPr algn="l">
              <a:lnSpc>
                <a:spcPts val="3513"/>
              </a:lnSpc>
            </a:pPr>
          </a:p>
          <a:p>
            <a:pPr algn="l">
              <a:lnSpc>
                <a:spcPts val="3513"/>
              </a:lnSpc>
            </a:pPr>
          </a:p>
        </p:txBody>
      </p:sp>
      <p:sp>
        <p:nvSpPr>
          <p:cNvPr name="Freeform 13" id="13"/>
          <p:cNvSpPr/>
          <p:nvPr/>
        </p:nvSpPr>
        <p:spPr>
          <a:xfrm flipH="false" flipV="false" rot="0">
            <a:off x="12782612" y="1553042"/>
            <a:ext cx="4763509" cy="5329619"/>
          </a:xfrm>
          <a:custGeom>
            <a:avLst/>
            <a:gdLst/>
            <a:ahLst/>
            <a:cxnLst/>
            <a:rect r="r" b="b" t="t" l="l"/>
            <a:pathLst>
              <a:path h="5329619" w="4763509">
                <a:moveTo>
                  <a:pt x="0" y="0"/>
                </a:moveTo>
                <a:lnTo>
                  <a:pt x="4763510" y="0"/>
                </a:lnTo>
                <a:lnTo>
                  <a:pt x="4763510" y="5329619"/>
                </a:lnTo>
                <a:lnTo>
                  <a:pt x="0" y="5329619"/>
                </a:lnTo>
                <a:lnTo>
                  <a:pt x="0" y="0"/>
                </a:lnTo>
                <a:close/>
              </a:path>
            </a:pathLst>
          </a:custGeom>
          <a:blipFill>
            <a:blip r:embed="rId4"/>
            <a:stretch>
              <a:fillRect l="-2653" t="0" r="0" b="0"/>
            </a:stretch>
          </a:blipFill>
          <a:ln w="38100" cap="sq">
            <a:solidFill>
              <a:srgbClr val="000000"/>
            </a:solidFill>
            <a:prstDash val="solid"/>
            <a:miter/>
          </a:ln>
        </p:spPr>
      </p:sp>
      <p:graphicFrame>
        <p:nvGraphicFramePr>
          <p:cNvPr name="Object 14" id="14"/>
          <p:cNvGraphicFramePr/>
          <p:nvPr/>
        </p:nvGraphicFramePr>
        <p:xfrm>
          <a:off x="12414249" y="7384311"/>
          <a:ext cx="7543800" cy="3143250"/>
        </p:xfrm>
        <a:graphic>
          <a:graphicData uri="http://schemas.openxmlformats.org/presentationml/2006/ole">
            <p:oleObj imgW="9042400" imgH="4648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5" id="15"/>
          <p:cNvSpPr txBox="true"/>
          <p:nvPr/>
        </p:nvSpPr>
        <p:spPr>
          <a:xfrm rot="0">
            <a:off x="4384714" y="565871"/>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 - Soil Texture</a:t>
            </a:r>
          </a:p>
        </p:txBody>
      </p:sp>
      <p:sp>
        <p:nvSpPr>
          <p:cNvPr name="TextBox 16" id="16"/>
          <p:cNvSpPr txBox="true"/>
          <p:nvPr/>
        </p:nvSpPr>
        <p:spPr>
          <a:xfrm rot="0">
            <a:off x="17620736" y="9735283"/>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
        <p:nvSpPr>
          <p:cNvPr name="TextBox 17" id="17"/>
          <p:cNvSpPr txBox="true"/>
          <p:nvPr/>
        </p:nvSpPr>
        <p:spPr>
          <a:xfrm rot="0">
            <a:off x="13178045" y="7025536"/>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Fig5. Soil Texture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028700" y="1495892"/>
            <a:ext cx="11198785" cy="8489832"/>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a:ea typeface="Times New Roman"/>
                <a:cs typeface="Times New Roman"/>
                <a:sym typeface="Times New Roman"/>
              </a:rPr>
              <a:t>   1) </a:t>
            </a:r>
            <a:r>
              <a:rPr lang="en-US" sz="2499" b="true">
                <a:solidFill>
                  <a:srgbClr val="000000"/>
                </a:solidFill>
                <a:latin typeface="Times New Roman Bold"/>
                <a:ea typeface="Times New Roman Bold"/>
                <a:cs typeface="Times New Roman Bold"/>
                <a:sym typeface="Times New Roman Bold"/>
              </a:rPr>
              <a:t>Data source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Dataset:</a:t>
            </a:r>
            <a:r>
              <a:rPr lang="en-US" b="true" sz="2400">
                <a:solidFill>
                  <a:srgbClr val="000000"/>
                </a:solidFill>
                <a:latin typeface="Times New Roman Bold"/>
                <a:ea typeface="Times New Roman Bold"/>
                <a:cs typeface="Times New Roman Bold"/>
                <a:sym typeface="Times New Roman Bold"/>
              </a:rPr>
              <a:t> MODIS/Terra+Aqua Land Cover Type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Period: </a:t>
            </a:r>
            <a:r>
              <a:rPr lang="en-US" b="true" sz="2400">
                <a:solidFill>
                  <a:srgbClr val="000000"/>
                </a:solidFill>
                <a:latin typeface="Times New Roman Bold"/>
                <a:ea typeface="Times New Roman Bold"/>
                <a:cs typeface="Times New Roman Bold"/>
                <a:sym typeface="Times New Roman Bold"/>
              </a:rPr>
              <a:t>2024 to 2025</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Resolution: 500 m</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CRS: EPSG:4326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Units: LC_Type1` (IGBP land cover classes; categorical) </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 </a:t>
            </a:r>
            <a:r>
              <a:rPr lang="en-US" sz="2499" b="true">
                <a:solidFill>
                  <a:srgbClr val="000000"/>
                </a:solidFill>
                <a:latin typeface="Times New Roman Bold"/>
                <a:ea typeface="Times New Roman Bold"/>
                <a:cs typeface="Times New Roman Bold"/>
                <a:sym typeface="Times New Roman Bold"/>
              </a:rPr>
              <a:t>  </a:t>
            </a:r>
            <a:r>
              <a:rPr lang="en-US" sz="2499" b="true">
                <a:solidFill>
                  <a:srgbClr val="000000"/>
                </a:solidFill>
                <a:latin typeface="Times New Roman Bold"/>
                <a:ea typeface="Times New Roman Bold"/>
                <a:cs typeface="Times New Roman Bold"/>
                <a:sym typeface="Times New Roman Bold"/>
              </a:rPr>
              <a:t>2) Purpose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LULC affects infiltration and runoff (built-up/rocky areas generally reduce infiltration; vegetated/agricultural areas often increase it). </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3) </a:t>
            </a:r>
            <a:r>
              <a:rPr lang="en-US" sz="2499" b="true">
                <a:solidFill>
                  <a:srgbClr val="000000"/>
                </a:solidFill>
                <a:latin typeface="Times New Roman Bold"/>
                <a:ea typeface="Times New Roman Bold"/>
                <a:cs typeface="Times New Roman Bold"/>
                <a:sym typeface="Times New Roman Bold"/>
              </a:rPr>
              <a:t>Pre-processing required</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MCD12Q1 tiles covering the study area were downloaded for the required year and the `LC_Type1` layer was extracted.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Tiles were mosaicked if needed, reprojected to EPSG:32644 using nearest-neighbor resampling (categorical), clipped to Chandrapur, and reclassified into suitability classes for weighted overlay. </a:t>
            </a:r>
          </a:p>
          <a:p>
            <a:pPr algn="l">
              <a:lnSpc>
                <a:spcPts val="3513"/>
              </a:lnSpc>
            </a:pPr>
          </a:p>
          <a:p>
            <a:pPr algn="l">
              <a:lnSpc>
                <a:spcPts val="3513"/>
              </a:lnSpc>
            </a:pPr>
          </a:p>
          <a:p>
            <a:pPr algn="l">
              <a:lnSpc>
                <a:spcPts val="3513"/>
              </a:lnSpc>
            </a:pPr>
          </a:p>
        </p:txBody>
      </p:sp>
      <p:sp>
        <p:nvSpPr>
          <p:cNvPr name="Freeform 13" id="13"/>
          <p:cNvSpPr/>
          <p:nvPr/>
        </p:nvSpPr>
        <p:spPr>
          <a:xfrm flipH="false" flipV="false" rot="0">
            <a:off x="12587756" y="2358432"/>
            <a:ext cx="5333406" cy="5570137"/>
          </a:xfrm>
          <a:custGeom>
            <a:avLst/>
            <a:gdLst/>
            <a:ahLst/>
            <a:cxnLst/>
            <a:rect r="r" b="b" t="t" l="l"/>
            <a:pathLst>
              <a:path h="5570137" w="5333406">
                <a:moveTo>
                  <a:pt x="0" y="0"/>
                </a:moveTo>
                <a:lnTo>
                  <a:pt x="5333406" y="0"/>
                </a:lnTo>
                <a:lnTo>
                  <a:pt x="5333406" y="5570136"/>
                </a:lnTo>
                <a:lnTo>
                  <a:pt x="0" y="5570136"/>
                </a:lnTo>
                <a:lnTo>
                  <a:pt x="0" y="0"/>
                </a:lnTo>
                <a:close/>
              </a:path>
            </a:pathLst>
          </a:custGeom>
          <a:blipFill>
            <a:blip r:embed="rId4"/>
            <a:stretch>
              <a:fillRect l="0" t="0" r="0" b="0"/>
            </a:stretch>
          </a:blipFill>
          <a:ln w="38100" cap="sq">
            <a:solidFill>
              <a:srgbClr val="000000"/>
            </a:solidFill>
            <a:prstDash val="solid"/>
            <a:miter/>
          </a:ln>
        </p:spPr>
      </p:sp>
      <p:sp>
        <p:nvSpPr>
          <p:cNvPr name="TextBox 14" id="14"/>
          <p:cNvSpPr txBox="true"/>
          <p:nvPr/>
        </p:nvSpPr>
        <p:spPr>
          <a:xfrm rot="0">
            <a:off x="4384714" y="649415"/>
            <a:ext cx="11692879"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 - Land Use Land Cover</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name="TextBox 16" id="16"/>
          <p:cNvSpPr txBox="true"/>
          <p:nvPr/>
        </p:nvSpPr>
        <p:spPr>
          <a:xfrm rot="0">
            <a:off x="13178045" y="8372788"/>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Fig6. Land Use Land Cover</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028700" y="1495892"/>
            <a:ext cx="11198785" cy="7651632"/>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a:ea typeface="Times New Roman"/>
                <a:cs typeface="Times New Roman"/>
                <a:sym typeface="Times New Roman"/>
              </a:rPr>
              <a:t>   1) </a:t>
            </a:r>
            <a:r>
              <a:rPr lang="en-US" sz="2499" b="true">
                <a:solidFill>
                  <a:srgbClr val="000000"/>
                </a:solidFill>
                <a:latin typeface="Times New Roman Bold"/>
                <a:ea typeface="Times New Roman Bold"/>
                <a:cs typeface="Times New Roman Bold"/>
                <a:sym typeface="Times New Roman Bold"/>
              </a:rPr>
              <a:t>Data source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Dataset: </a:t>
            </a:r>
            <a:r>
              <a:rPr lang="en-US" b="true" sz="2400">
                <a:solidFill>
                  <a:srgbClr val="000000"/>
                </a:solidFill>
                <a:latin typeface="Times New Roman Bold"/>
                <a:ea typeface="Times New Roman Bold"/>
                <a:cs typeface="Times New Roman Bold"/>
                <a:sym typeface="Times New Roman Bold"/>
              </a:rPr>
              <a:t>WorldPop :: India Population Density(2020)</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Period: </a:t>
            </a:r>
            <a:r>
              <a:rPr lang="en-US" b="true" sz="2400">
                <a:solidFill>
                  <a:srgbClr val="000000"/>
                </a:solidFill>
                <a:latin typeface="Times New Roman Bold"/>
                <a:ea typeface="Times New Roman Bold"/>
                <a:cs typeface="Times New Roman Bold"/>
                <a:sym typeface="Times New Roman Bold"/>
              </a:rPr>
              <a:t>2020</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Resolution: 30 arc (approximately 1km at the equator).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CRS: EPSG:4326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Units: </a:t>
            </a:r>
            <a:r>
              <a:rPr lang="en-US" sz="2400">
                <a:solidFill>
                  <a:srgbClr val="000000"/>
                </a:solidFill>
                <a:latin typeface="Times New Roman"/>
                <a:ea typeface="Times New Roman"/>
                <a:cs typeface="Times New Roman"/>
                <a:sym typeface="Times New Roman"/>
              </a:rPr>
              <a:t>people per square kilometer</a:t>
            </a:r>
            <a:r>
              <a:rPr lang="en-US" sz="2400">
                <a:solidFill>
                  <a:srgbClr val="000000"/>
                </a:solidFill>
                <a:latin typeface="Times New Roman"/>
                <a:ea typeface="Times New Roman"/>
                <a:cs typeface="Times New Roman"/>
                <a:sym typeface="Times New Roman"/>
              </a:rPr>
              <a:t>** (people/km²) </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 </a:t>
            </a:r>
            <a:r>
              <a:rPr lang="en-US" sz="2499" b="true">
                <a:solidFill>
                  <a:srgbClr val="000000"/>
                </a:solidFill>
                <a:latin typeface="Times New Roman Bold"/>
                <a:ea typeface="Times New Roman Bold"/>
                <a:cs typeface="Times New Roman Bold"/>
                <a:sym typeface="Times New Roman Bold"/>
              </a:rPr>
              <a:t>  </a:t>
            </a:r>
            <a:r>
              <a:rPr lang="en-US" sz="2499" b="true">
                <a:solidFill>
                  <a:srgbClr val="000000"/>
                </a:solidFill>
                <a:latin typeface="Times New Roman Bold"/>
                <a:ea typeface="Times New Roman Bold"/>
                <a:cs typeface="Times New Roman Bold"/>
                <a:sym typeface="Times New Roman Bold"/>
              </a:rPr>
              <a:t>2) Purpose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Indicates population pressure/demand and supports suitability analysis for groundwater management and rainwater harvesting planning.</a:t>
            </a:r>
          </a:p>
          <a:p>
            <a:pPr algn="l">
              <a:lnSpc>
                <a:spcPts val="3359"/>
              </a:lnSpc>
            </a:pPr>
          </a:p>
          <a:p>
            <a:pPr algn="l">
              <a:lnSpc>
                <a:spcPts val="3499"/>
              </a:lnSpc>
            </a:pPr>
            <a:r>
              <a:rPr lang="en-US" sz="2499">
                <a:solidFill>
                  <a:srgbClr val="000000"/>
                </a:solidFill>
                <a:latin typeface="Times New Roman"/>
                <a:ea typeface="Times New Roman"/>
                <a:cs typeface="Times New Roman"/>
                <a:sym typeface="Times New Roman"/>
              </a:rPr>
              <a:t>3) </a:t>
            </a:r>
            <a:r>
              <a:rPr lang="en-US" sz="2499" b="true">
                <a:solidFill>
                  <a:srgbClr val="000000"/>
                </a:solidFill>
                <a:latin typeface="Times New Roman Bold"/>
                <a:ea typeface="Times New Roman Bold"/>
                <a:cs typeface="Times New Roman Bold"/>
                <a:sym typeface="Times New Roman Bold"/>
              </a:rPr>
              <a:t>Pre-processing required</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WorldPop population density raster was downloaded and clipped to Chandrapur.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It was reprojected/aligned to the analysis CRS (**EPSG:32644**) and reclassified into suitability ranks for weighted overlay</a:t>
            </a:r>
          </a:p>
          <a:p>
            <a:pPr algn="l">
              <a:lnSpc>
                <a:spcPts val="3513"/>
              </a:lnSpc>
            </a:pPr>
          </a:p>
          <a:p>
            <a:pPr algn="l">
              <a:lnSpc>
                <a:spcPts val="3513"/>
              </a:lnSpc>
            </a:pPr>
          </a:p>
          <a:p>
            <a:pPr algn="l">
              <a:lnSpc>
                <a:spcPts val="3513"/>
              </a:lnSpc>
            </a:pPr>
          </a:p>
        </p:txBody>
      </p:sp>
      <p:sp>
        <p:nvSpPr>
          <p:cNvPr name="Freeform 13" id="13"/>
          <p:cNvSpPr/>
          <p:nvPr/>
        </p:nvSpPr>
        <p:spPr>
          <a:xfrm flipH="false" flipV="false" rot="0">
            <a:off x="12636909" y="1851869"/>
            <a:ext cx="5235100" cy="5777969"/>
          </a:xfrm>
          <a:custGeom>
            <a:avLst/>
            <a:gdLst/>
            <a:ahLst/>
            <a:cxnLst/>
            <a:rect r="r" b="b" t="t" l="l"/>
            <a:pathLst>
              <a:path h="5777969" w="5235100">
                <a:moveTo>
                  <a:pt x="0" y="0"/>
                </a:moveTo>
                <a:lnTo>
                  <a:pt x="5235100" y="0"/>
                </a:lnTo>
                <a:lnTo>
                  <a:pt x="5235100" y="5777969"/>
                </a:lnTo>
                <a:lnTo>
                  <a:pt x="0" y="5777969"/>
                </a:lnTo>
                <a:lnTo>
                  <a:pt x="0" y="0"/>
                </a:lnTo>
                <a:close/>
              </a:path>
            </a:pathLst>
          </a:custGeom>
          <a:blipFill>
            <a:blip r:embed="rId4"/>
            <a:stretch>
              <a:fillRect l="-13539" t="0" r="-2581" b="-1002"/>
            </a:stretch>
          </a:blipFill>
          <a:ln w="38100" cap="sq">
            <a:solidFill>
              <a:srgbClr val="000000"/>
            </a:solidFill>
            <a:prstDash val="solid"/>
            <a:miter/>
          </a:ln>
        </p:spPr>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 - Population</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
        <p:nvSpPr>
          <p:cNvPr name="TextBox 16" id="16"/>
          <p:cNvSpPr txBox="true"/>
          <p:nvPr/>
        </p:nvSpPr>
        <p:spPr>
          <a:xfrm rot="0">
            <a:off x="13178045" y="7991788"/>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Fig7. Chandrapur Population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Chandrapur-Rivers</a:t>
            </a:r>
          </a:p>
        </p:txBody>
      </p:sp>
      <p:sp>
        <p:nvSpPr>
          <p:cNvPr name="TextBox 13" id="13"/>
          <p:cNvSpPr txBox="true"/>
          <p:nvPr/>
        </p:nvSpPr>
        <p:spPr>
          <a:xfrm rot="0">
            <a:off x="1257119" y="1707995"/>
            <a:ext cx="11084491" cy="7605159"/>
          </a:xfrm>
          <a:prstGeom prst="rect">
            <a:avLst/>
          </a:prstGeom>
        </p:spPr>
        <p:txBody>
          <a:bodyPr anchor="t" rtlCol="false" tIns="0" lIns="0" bIns="0" rIns="0">
            <a:spAutoFit/>
          </a:bodyPr>
          <a:lstStyle/>
          <a:p>
            <a:pPr algn="l">
              <a:lnSpc>
                <a:spcPts val="3513"/>
              </a:lnSpc>
            </a:pPr>
            <a:r>
              <a:rPr lang="en-US" sz="2509">
                <a:solidFill>
                  <a:srgbClr val="000000"/>
                </a:solidFill>
                <a:latin typeface="Times New Roman"/>
                <a:ea typeface="Times New Roman"/>
                <a:cs typeface="Times New Roman"/>
                <a:sym typeface="Times New Roman"/>
              </a:rPr>
              <a:t>   1)</a:t>
            </a:r>
            <a:r>
              <a:rPr lang="en-US" sz="2509" b="true">
                <a:solidFill>
                  <a:srgbClr val="000000"/>
                </a:solidFill>
                <a:latin typeface="Times New Roman Bold"/>
                <a:ea typeface="Times New Roman Bold"/>
                <a:cs typeface="Times New Roman Bold"/>
                <a:sym typeface="Times New Roman Bold"/>
              </a:rPr>
              <a:t> Data source</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Dataset: </a:t>
            </a:r>
            <a:r>
              <a:rPr lang="en-US" b="true" sz="2409">
                <a:solidFill>
                  <a:srgbClr val="000000"/>
                </a:solidFill>
                <a:latin typeface="Times New Roman Bold"/>
                <a:ea typeface="Times New Roman Bold"/>
                <a:cs typeface="Times New Roman Bold"/>
                <a:sym typeface="Times New Roman Bold"/>
              </a:rPr>
              <a:t>HydroRIVERS v1.0 (HydroSHEDS)</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Data type: global vector river lines; used the continent:</a:t>
            </a:r>
            <a:r>
              <a:rPr lang="en-US" b="true" sz="2409">
                <a:solidFill>
                  <a:srgbClr val="000000"/>
                </a:solidFill>
                <a:latin typeface="Times New Roman Bold"/>
                <a:ea typeface="Times New Roman Bold"/>
                <a:cs typeface="Times New Roman Bold"/>
                <a:sym typeface="Times New Roman Bold"/>
              </a:rPr>
              <a:t>Asia</a:t>
            </a:r>
            <a:r>
              <a:rPr lang="en-US" sz="2409">
                <a:solidFill>
                  <a:srgbClr val="000000"/>
                </a:solidFill>
                <a:latin typeface="Times New Roman"/>
                <a:ea typeface="Times New Roman"/>
                <a:cs typeface="Times New Roman"/>
                <a:sym typeface="Times New Roman"/>
              </a:rPr>
              <a:t> download.</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Key field: `ORD_STRA` = Strahler stream order</a:t>
            </a:r>
          </a:p>
          <a:p>
            <a:pPr algn="l">
              <a:lnSpc>
                <a:spcPts val="3373"/>
              </a:lnSpc>
            </a:pPr>
          </a:p>
          <a:p>
            <a:pPr algn="l">
              <a:lnSpc>
                <a:spcPts val="3513"/>
              </a:lnSpc>
            </a:pPr>
            <a:r>
              <a:rPr lang="en-US" sz="2509">
                <a:solidFill>
                  <a:srgbClr val="000000"/>
                </a:solidFill>
                <a:latin typeface="Times New Roman"/>
                <a:ea typeface="Times New Roman"/>
                <a:cs typeface="Times New Roman"/>
                <a:sym typeface="Times New Roman"/>
              </a:rPr>
              <a:t>   </a:t>
            </a:r>
            <a:r>
              <a:rPr lang="en-US" sz="2509">
                <a:solidFill>
                  <a:srgbClr val="000000"/>
                </a:solidFill>
                <a:latin typeface="Times New Roman"/>
                <a:ea typeface="Times New Roman"/>
                <a:cs typeface="Times New Roman"/>
                <a:sym typeface="Times New Roman"/>
              </a:rPr>
              <a:t>2) </a:t>
            </a:r>
            <a:r>
              <a:rPr lang="en-US" sz="2509" b="true">
                <a:solidFill>
                  <a:srgbClr val="000000"/>
                </a:solidFill>
                <a:latin typeface="Times New Roman Bold"/>
                <a:ea typeface="Times New Roman Bold"/>
                <a:cs typeface="Times New Roman Bold"/>
                <a:sym typeface="Times New Roman Bold"/>
              </a:rPr>
              <a:t>Purpose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Drainage characteristics relate to runoff pathways and potential recharge zones.</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Stream order helps represent river hierarchy; higher-order channels often represent major drainage lines.</a:t>
            </a:r>
          </a:p>
          <a:p>
            <a:pPr algn="l">
              <a:lnSpc>
                <a:spcPts val="3373"/>
              </a:lnSpc>
            </a:pPr>
          </a:p>
          <a:p>
            <a:pPr algn="l">
              <a:lnSpc>
                <a:spcPts val="3513"/>
              </a:lnSpc>
            </a:pPr>
            <a:r>
              <a:rPr lang="en-US" sz="2509">
                <a:solidFill>
                  <a:srgbClr val="000000"/>
                </a:solidFill>
                <a:latin typeface="Times New Roman"/>
                <a:ea typeface="Times New Roman"/>
                <a:cs typeface="Times New Roman"/>
                <a:sym typeface="Times New Roman"/>
              </a:rPr>
              <a:t>   </a:t>
            </a:r>
            <a:r>
              <a:rPr lang="en-US" sz="2509">
                <a:solidFill>
                  <a:srgbClr val="000000"/>
                </a:solidFill>
                <a:latin typeface="Times New Roman"/>
                <a:ea typeface="Times New Roman"/>
                <a:cs typeface="Times New Roman"/>
                <a:sym typeface="Times New Roman"/>
              </a:rPr>
              <a:t>3) </a:t>
            </a:r>
            <a:r>
              <a:rPr lang="en-US" sz="2509" b="true">
                <a:solidFill>
                  <a:srgbClr val="000000"/>
                </a:solidFill>
                <a:latin typeface="Times New Roman Bold"/>
                <a:ea typeface="Times New Roman Bold"/>
                <a:cs typeface="Times New Roman Bold"/>
                <a:sym typeface="Times New Roman Bold"/>
              </a:rPr>
              <a:t>Pre-processing required</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HydroRIVERS (Asia) river lines were downloaded and clipped to the Chandrapur boundary to create a district-only drainage layer. </a:t>
            </a:r>
          </a:p>
          <a:p>
            <a:pPr algn="l" marL="520168" indent="-260084" lvl="1">
              <a:lnSpc>
                <a:spcPts val="3373"/>
              </a:lnSpc>
              <a:buFont typeface="Arial"/>
              <a:buChar char="•"/>
            </a:pPr>
            <a:r>
              <a:rPr lang="en-US" sz="2409">
                <a:solidFill>
                  <a:srgbClr val="000000"/>
                </a:solidFill>
                <a:latin typeface="Times New Roman"/>
                <a:ea typeface="Times New Roman"/>
                <a:cs typeface="Times New Roman"/>
                <a:sym typeface="Times New Roman"/>
              </a:rPr>
              <a:t>Stream hierarchy was represented using the `ORD_STRA` (Strahler order) attribute. Where drainage density was required, it was treated as a derived variable rather than a direct download: river length was summarized within a regular analysis grid (e.g., 1 km × 1 km) in a projected CRS and converted to density as length per unit area; this grid-based result can then be rasterized to match the raster stack used for AHP.</a:t>
            </a:r>
          </a:p>
        </p:txBody>
      </p:sp>
      <p:sp>
        <p:nvSpPr>
          <p:cNvPr name="Freeform 14" id="14"/>
          <p:cNvSpPr/>
          <p:nvPr/>
        </p:nvSpPr>
        <p:spPr>
          <a:xfrm flipH="false" flipV="false" rot="0">
            <a:off x="12235980" y="2196328"/>
            <a:ext cx="5793318" cy="5894345"/>
          </a:xfrm>
          <a:custGeom>
            <a:avLst/>
            <a:gdLst/>
            <a:ahLst/>
            <a:cxnLst/>
            <a:rect r="r" b="b" t="t" l="l"/>
            <a:pathLst>
              <a:path h="5894345" w="5793318">
                <a:moveTo>
                  <a:pt x="0" y="0"/>
                </a:moveTo>
                <a:lnTo>
                  <a:pt x="5793319" y="0"/>
                </a:lnTo>
                <a:lnTo>
                  <a:pt x="5793319" y="5894344"/>
                </a:lnTo>
                <a:lnTo>
                  <a:pt x="0" y="5894344"/>
                </a:lnTo>
                <a:lnTo>
                  <a:pt x="0" y="0"/>
                </a:lnTo>
                <a:close/>
              </a:path>
            </a:pathLst>
          </a:custGeom>
          <a:blipFill>
            <a:blip r:embed="rId4"/>
            <a:stretch>
              <a:fillRect l="-11298" t="-2680" r="-12555" b="-4595"/>
            </a:stretch>
          </a:blipFill>
          <a:ln w="28575" cap="sq">
            <a:solidFill>
              <a:srgbClr val="000000"/>
            </a:solidFill>
            <a:prstDash val="solid"/>
            <a:miter/>
          </a:ln>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
        <p:nvSpPr>
          <p:cNvPr name="TextBox 16" id="16"/>
          <p:cNvSpPr txBox="true"/>
          <p:nvPr/>
        </p:nvSpPr>
        <p:spPr>
          <a:xfrm rot="0">
            <a:off x="13178045" y="8176122"/>
            <a:ext cx="4152827" cy="358775"/>
          </a:xfrm>
          <a:prstGeom prst="rect">
            <a:avLst/>
          </a:prstGeom>
        </p:spPr>
        <p:txBody>
          <a:bodyPr anchor="t" rtlCol="false" tIns="0" lIns="0" bIns="0" rIns="0">
            <a:spAutoFit/>
          </a:bodyPr>
          <a:lstStyle/>
          <a:p>
            <a:pPr algn="ctr">
              <a:lnSpc>
                <a:spcPts val="2800"/>
              </a:lnSpc>
            </a:pPr>
            <a:r>
              <a:rPr lang="en-US" sz="2000" b="true">
                <a:solidFill>
                  <a:srgbClr val="000000"/>
                </a:solidFill>
                <a:latin typeface="Times New Roman Bold"/>
                <a:ea typeface="Times New Roman Bold"/>
                <a:cs typeface="Times New Roman Bold"/>
                <a:sym typeface="Times New Roman Bold"/>
              </a:rPr>
              <a:t>Fig8. Chandrapur Rivers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389457" y="1813876"/>
            <a:ext cx="16134519" cy="7000433"/>
          </a:xfrm>
          <a:prstGeom prst="rect">
            <a:avLst/>
          </a:prstGeom>
        </p:spPr>
        <p:txBody>
          <a:bodyPr anchor="t" rtlCol="false" tIns="0" lIns="0" bIns="0" rIns="0">
            <a:spAutoFit/>
          </a:bodyPr>
          <a:lstStyle/>
          <a:p>
            <a:pPr algn="l" marL="570494" indent="-285247" lvl="1">
              <a:lnSpc>
                <a:spcPts val="3699"/>
              </a:lnSpc>
              <a:buFont typeface="Arial"/>
              <a:buChar char="•"/>
            </a:pPr>
            <a:r>
              <a:rPr lang="en-US" sz="2642">
                <a:solidFill>
                  <a:srgbClr val="000000"/>
                </a:solidFill>
                <a:latin typeface="Times New Roman"/>
                <a:ea typeface="Times New Roman"/>
                <a:cs typeface="Times New Roman"/>
                <a:sym typeface="Times New Roman"/>
              </a:rPr>
              <a:t>Most RWH site-suitability studies use </a:t>
            </a:r>
            <a:r>
              <a:rPr lang="en-US" b="true" sz="2642">
                <a:solidFill>
                  <a:srgbClr val="000000"/>
                </a:solidFill>
                <a:latin typeface="Times New Roman Bold"/>
                <a:ea typeface="Times New Roman Bold"/>
                <a:cs typeface="Times New Roman Bold"/>
                <a:sym typeface="Times New Roman Bold"/>
              </a:rPr>
              <a:t>GIS-based Multi-Criteria Decision Analysis (GIS–MCDA)</a:t>
            </a:r>
            <a:r>
              <a:rPr lang="en-US" sz="2642">
                <a:solidFill>
                  <a:srgbClr val="000000"/>
                </a:solidFill>
                <a:latin typeface="Times New Roman"/>
                <a:ea typeface="Times New Roman"/>
                <a:cs typeface="Times New Roman"/>
                <a:sym typeface="Times New Roman"/>
              </a:rPr>
              <a:t> as the core framework, combining spatial data with structured decision logic to identify optimal harvesting zones.</a:t>
            </a:r>
          </a:p>
          <a:p>
            <a:pPr algn="l" marL="570494" indent="-285247" lvl="1">
              <a:lnSpc>
                <a:spcPts val="3699"/>
              </a:lnSpc>
              <a:buFont typeface="Arial"/>
              <a:buChar char="•"/>
            </a:pPr>
            <a:r>
              <a:rPr lang="en-US" sz="2642">
                <a:solidFill>
                  <a:srgbClr val="000000"/>
                </a:solidFill>
                <a:latin typeface="Times New Roman"/>
                <a:ea typeface="Times New Roman"/>
                <a:cs typeface="Times New Roman"/>
                <a:sym typeface="Times New Roman"/>
              </a:rPr>
              <a:t>The most common weighting approach is </a:t>
            </a:r>
            <a:r>
              <a:rPr lang="en-US" b="true" sz="2642">
                <a:solidFill>
                  <a:srgbClr val="000000"/>
                </a:solidFill>
                <a:latin typeface="Times New Roman Bold"/>
                <a:ea typeface="Times New Roman Bold"/>
                <a:cs typeface="Times New Roman Bold"/>
                <a:sym typeface="Times New Roman Bold"/>
              </a:rPr>
              <a:t>AHP (Analytic Hierarchy Process)</a:t>
            </a:r>
            <a:r>
              <a:rPr lang="en-US" sz="2642">
                <a:solidFill>
                  <a:srgbClr val="000000"/>
                </a:solidFill>
                <a:latin typeface="Times New Roman"/>
                <a:ea typeface="Times New Roman"/>
                <a:cs typeface="Times New Roman"/>
                <a:sym typeface="Times New Roman"/>
              </a:rPr>
              <a:t>, which converts expert judgment into quantitative criterion weights through pairwise comparisons, making weight assignment transparent and reproducible.</a:t>
            </a:r>
          </a:p>
          <a:p>
            <a:pPr algn="l" marL="570494" indent="-285247" lvl="1">
              <a:lnSpc>
                <a:spcPts val="3699"/>
              </a:lnSpc>
              <a:buFont typeface="Arial"/>
              <a:buChar char="•"/>
            </a:pPr>
            <a:r>
              <a:rPr lang="en-US" sz="2642">
                <a:solidFill>
                  <a:srgbClr val="000000"/>
                </a:solidFill>
                <a:latin typeface="Times New Roman"/>
                <a:ea typeface="Times New Roman"/>
                <a:cs typeface="Times New Roman"/>
                <a:sym typeface="Times New Roman"/>
              </a:rPr>
              <a:t>The most common aggregation approach is </a:t>
            </a:r>
            <a:r>
              <a:rPr lang="en-US" b="true" sz="2642">
                <a:solidFill>
                  <a:srgbClr val="000000"/>
                </a:solidFill>
                <a:latin typeface="Times New Roman Bold"/>
                <a:ea typeface="Times New Roman Bold"/>
                <a:cs typeface="Times New Roman Bold"/>
                <a:sym typeface="Times New Roman Bold"/>
              </a:rPr>
              <a:t>Weighted Linear Combination (WLC) / Weighted Overlay</a:t>
            </a:r>
            <a:r>
              <a:rPr lang="en-US" sz="2642">
                <a:solidFill>
                  <a:srgbClr val="000000"/>
                </a:solidFill>
                <a:latin typeface="Times New Roman"/>
                <a:ea typeface="Times New Roman"/>
                <a:cs typeface="Times New Roman"/>
                <a:sym typeface="Times New Roman"/>
              </a:rPr>
              <a:t>, where normalized criterion rasters are combined using AHP-derived weights to produce a single continuous suitability surface.</a:t>
            </a:r>
          </a:p>
          <a:p>
            <a:pPr algn="l" marL="570494" indent="-285247" lvl="1">
              <a:lnSpc>
                <a:spcPts val="3699"/>
              </a:lnSpc>
              <a:buFont typeface="Arial"/>
              <a:buChar char="•"/>
            </a:pPr>
            <a:r>
              <a:rPr lang="en-US" sz="2642">
                <a:solidFill>
                  <a:srgbClr val="000000"/>
                </a:solidFill>
                <a:latin typeface="Times New Roman"/>
                <a:ea typeface="Times New Roman"/>
                <a:cs typeface="Times New Roman"/>
                <a:sym typeface="Times New Roman"/>
              </a:rPr>
              <a:t>Frequently used variants include </a:t>
            </a:r>
            <a:r>
              <a:rPr lang="en-US" b="true" sz="2642">
                <a:solidFill>
                  <a:srgbClr val="000000"/>
                </a:solidFill>
                <a:latin typeface="Times New Roman Bold"/>
                <a:ea typeface="Times New Roman Bold"/>
                <a:cs typeface="Times New Roman Bold"/>
                <a:sym typeface="Times New Roman Bold"/>
              </a:rPr>
              <a:t>Fuzzy-AHP (to handle uncertainty in expert judgments), AHP–TOPSIS, AHP–PROMETHEE</a:t>
            </a:r>
            <a:r>
              <a:rPr lang="en-US" sz="2642">
                <a:solidFill>
                  <a:srgbClr val="000000"/>
                </a:solidFill>
                <a:latin typeface="Times New Roman"/>
                <a:ea typeface="Times New Roman"/>
                <a:cs typeface="Times New Roman"/>
                <a:sym typeface="Times New Roman"/>
              </a:rPr>
              <a:t>, and </a:t>
            </a:r>
            <a:r>
              <a:rPr lang="en-US" b="true" sz="2642">
                <a:solidFill>
                  <a:srgbClr val="000000"/>
                </a:solidFill>
                <a:latin typeface="Times New Roman Bold"/>
                <a:ea typeface="Times New Roman Bold"/>
                <a:cs typeface="Times New Roman Bold"/>
                <a:sym typeface="Times New Roman Bold"/>
              </a:rPr>
              <a:t>Boolean constraint masking combined with WLC</a:t>
            </a:r>
            <a:r>
              <a:rPr lang="en-US" sz="2642">
                <a:solidFill>
                  <a:srgbClr val="000000"/>
                </a:solidFill>
                <a:latin typeface="Times New Roman"/>
                <a:ea typeface="Times New Roman"/>
                <a:cs typeface="Times New Roman"/>
                <a:sym typeface="Times New Roman"/>
              </a:rPr>
              <a:t> to hard-exclude unsuitable areas before scoring.</a:t>
            </a:r>
          </a:p>
          <a:p>
            <a:pPr algn="l" marL="570494" indent="-285247" lvl="1">
              <a:lnSpc>
                <a:spcPts val="3699"/>
              </a:lnSpc>
              <a:buFont typeface="Arial"/>
              <a:buChar char="•"/>
            </a:pPr>
            <a:r>
              <a:rPr lang="en-US" sz="2642">
                <a:solidFill>
                  <a:srgbClr val="000000"/>
                </a:solidFill>
                <a:latin typeface="Times New Roman"/>
                <a:ea typeface="Times New Roman"/>
                <a:cs typeface="Times New Roman"/>
                <a:sym typeface="Times New Roman"/>
              </a:rPr>
              <a:t>Criteria commonly selected across studies include </a:t>
            </a:r>
            <a:r>
              <a:rPr lang="en-US" b="true" sz="2642">
                <a:solidFill>
                  <a:srgbClr val="000000"/>
                </a:solidFill>
                <a:latin typeface="Times New Roman Bold"/>
                <a:ea typeface="Times New Roman Bold"/>
                <a:cs typeface="Times New Roman Bold"/>
                <a:sym typeface="Times New Roman Bold"/>
              </a:rPr>
              <a:t>slope, rainfall, soil type, land use/land cover, drainage density, and population density — with slope and rainfall</a:t>
            </a:r>
            <a:r>
              <a:rPr lang="en-US" sz="2642">
                <a:solidFill>
                  <a:srgbClr val="000000"/>
                </a:solidFill>
                <a:latin typeface="Times New Roman"/>
                <a:ea typeface="Times New Roman"/>
                <a:cs typeface="Times New Roman"/>
                <a:sym typeface="Times New Roman"/>
              </a:rPr>
              <a:t> appearing in nearly all reviewed papers.</a:t>
            </a:r>
          </a:p>
          <a:p>
            <a:pPr algn="l" marL="570494" indent="-285247" lvl="1">
              <a:lnSpc>
                <a:spcPts val="3699"/>
              </a:lnSpc>
              <a:buFont typeface="Arial"/>
              <a:buChar char="•"/>
            </a:pPr>
            <a:r>
              <a:rPr lang="en-US" sz="2642">
                <a:solidFill>
                  <a:srgbClr val="000000"/>
                </a:solidFill>
                <a:latin typeface="Times New Roman"/>
                <a:ea typeface="Times New Roman"/>
                <a:cs typeface="Times New Roman"/>
                <a:sym typeface="Times New Roman"/>
              </a:rPr>
              <a:t>Output is typically a </a:t>
            </a:r>
            <a:r>
              <a:rPr lang="en-US" b="true" sz="2642">
                <a:solidFill>
                  <a:srgbClr val="000000"/>
                </a:solidFill>
                <a:latin typeface="Times New Roman Bold"/>
                <a:ea typeface="Times New Roman Bold"/>
                <a:cs typeface="Times New Roman Bold"/>
                <a:sym typeface="Times New Roman Bold"/>
              </a:rPr>
              <a:t>classified Suitability Map (Low / Medium / High)</a:t>
            </a:r>
            <a:r>
              <a:rPr lang="en-US" sz="2642">
                <a:solidFill>
                  <a:srgbClr val="000000"/>
                </a:solidFill>
                <a:latin typeface="Times New Roman"/>
                <a:ea typeface="Times New Roman"/>
                <a:cs typeface="Times New Roman"/>
                <a:sym typeface="Times New Roman"/>
              </a:rPr>
              <a:t> overlaid with ranked candidate zones, often accompanied by per-site justification of scores across selected criteria.</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Most Used Methodology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257119" y="2083973"/>
            <a:ext cx="16134519" cy="6052378"/>
          </a:xfrm>
          <a:prstGeom prst="rect">
            <a:avLst/>
          </a:prstGeom>
        </p:spPr>
        <p:txBody>
          <a:bodyPr anchor="t" rtlCol="false" tIns="0" lIns="0" bIns="0" rIns="0">
            <a:spAutoFit/>
          </a:bodyPr>
          <a:lstStyle/>
          <a:p>
            <a:pPr algn="l" marL="613673" indent="-306837" lvl="1">
              <a:lnSpc>
                <a:spcPts val="3979"/>
              </a:lnSpc>
              <a:buFont typeface="Arial"/>
              <a:buChar char="•"/>
            </a:pPr>
            <a:r>
              <a:rPr lang="en-US" b="true" sz="2842">
                <a:solidFill>
                  <a:srgbClr val="000000"/>
                </a:solidFill>
                <a:latin typeface="Times New Roman Bold"/>
                <a:ea typeface="Times New Roman Bold"/>
                <a:cs typeface="Times New Roman Bold"/>
                <a:sym typeface="Times New Roman Bold"/>
              </a:rPr>
              <a:t>Input:</a:t>
            </a:r>
            <a:r>
              <a:rPr lang="en-US" sz="2842">
                <a:solidFill>
                  <a:srgbClr val="000000"/>
                </a:solidFill>
                <a:latin typeface="Times New Roman"/>
                <a:ea typeface="Times New Roman"/>
                <a:cs typeface="Times New Roman"/>
                <a:sym typeface="Times New Roman"/>
              </a:rPr>
              <a:t> boundary (district), rivers/drainage vector, rasters (rainfall, slope, soil texture, optional LULC and population)</a:t>
            </a:r>
          </a:p>
          <a:p>
            <a:pPr algn="l" marL="613673" indent="-306837" lvl="1">
              <a:lnSpc>
                <a:spcPts val="3979"/>
              </a:lnSpc>
              <a:buFont typeface="Arial"/>
              <a:buChar char="•"/>
            </a:pPr>
            <a:r>
              <a:rPr lang="en-US" b="true" sz="2842">
                <a:solidFill>
                  <a:srgbClr val="000000"/>
                </a:solidFill>
                <a:latin typeface="Times New Roman Bold"/>
                <a:ea typeface="Times New Roman Bold"/>
                <a:cs typeface="Times New Roman Bold"/>
                <a:sym typeface="Times New Roman Bold"/>
              </a:rPr>
              <a:t>Common-grid preprocessing:</a:t>
            </a:r>
            <a:r>
              <a:rPr lang="en-US" sz="2842">
                <a:solidFill>
                  <a:srgbClr val="000000"/>
                </a:solidFill>
                <a:latin typeface="Times New Roman"/>
                <a:ea typeface="Times New Roman"/>
                <a:cs typeface="Times New Roman"/>
                <a:sym typeface="Times New Roman"/>
              </a:rPr>
              <a:t> all layers are resampled and reprojected onto one analysis grid for speed and consistency</a:t>
            </a:r>
          </a:p>
          <a:p>
            <a:pPr algn="l" marL="613673" indent="-306837" lvl="1">
              <a:lnSpc>
                <a:spcPts val="3979"/>
              </a:lnSpc>
              <a:buFont typeface="Arial"/>
              <a:buChar char="•"/>
            </a:pPr>
            <a:r>
              <a:rPr lang="en-US" b="true" sz="2842">
                <a:solidFill>
                  <a:srgbClr val="000000"/>
                </a:solidFill>
                <a:latin typeface="Times New Roman Bold"/>
                <a:ea typeface="Times New Roman Bold"/>
                <a:cs typeface="Times New Roman Bold"/>
                <a:sym typeface="Times New Roman Bold"/>
              </a:rPr>
              <a:t>Drainage criterion generation: </a:t>
            </a:r>
            <a:r>
              <a:rPr lang="en-US" sz="2842">
                <a:solidFill>
                  <a:srgbClr val="000000"/>
                </a:solidFill>
                <a:latin typeface="Times New Roman"/>
                <a:ea typeface="Times New Roman"/>
                <a:cs typeface="Times New Roman"/>
                <a:sym typeface="Times New Roman"/>
              </a:rPr>
              <a:t>rivers rasterized, distance-to-river computed using chamfer distance transform, converted to suitability score</a:t>
            </a:r>
          </a:p>
          <a:p>
            <a:pPr algn="l" marL="613673" indent="-306837" lvl="1">
              <a:lnSpc>
                <a:spcPts val="3979"/>
              </a:lnSpc>
              <a:buFont typeface="Arial"/>
              <a:buChar char="•"/>
            </a:pPr>
            <a:r>
              <a:rPr lang="en-US" b="true" sz="2842">
                <a:solidFill>
                  <a:srgbClr val="000000"/>
                </a:solidFill>
                <a:latin typeface="Times New Roman Bold"/>
                <a:ea typeface="Times New Roman Bold"/>
                <a:cs typeface="Times New Roman Bold"/>
                <a:sym typeface="Times New Roman Bold"/>
              </a:rPr>
              <a:t>AHP weights: </a:t>
            </a:r>
            <a:r>
              <a:rPr lang="en-US" sz="2842">
                <a:solidFill>
                  <a:srgbClr val="000000"/>
                </a:solidFill>
                <a:latin typeface="Times New Roman"/>
                <a:ea typeface="Times New Roman"/>
                <a:cs typeface="Times New Roman"/>
                <a:sym typeface="Times New Roman"/>
              </a:rPr>
              <a:t>computed from a fixed pairwise comparison matrix with consistency check (CR less than 0.10)</a:t>
            </a:r>
          </a:p>
          <a:p>
            <a:pPr algn="l" marL="613673" indent="-306837" lvl="1">
              <a:lnSpc>
                <a:spcPts val="3979"/>
              </a:lnSpc>
              <a:buFont typeface="Arial"/>
              <a:buChar char="•"/>
            </a:pPr>
            <a:r>
              <a:rPr lang="en-US" b="true" sz="2842">
                <a:solidFill>
                  <a:srgbClr val="000000"/>
                </a:solidFill>
                <a:latin typeface="Times New Roman Bold"/>
                <a:ea typeface="Times New Roman Bold"/>
                <a:cs typeface="Times New Roman Bold"/>
                <a:sym typeface="Times New Roman Bold"/>
              </a:rPr>
              <a:t>MCDA scoring:</a:t>
            </a:r>
            <a:r>
              <a:rPr lang="en-US" sz="2842">
                <a:solidFill>
                  <a:srgbClr val="000000"/>
                </a:solidFill>
                <a:latin typeface="Times New Roman"/>
                <a:ea typeface="Times New Roman"/>
                <a:cs typeface="Times New Roman"/>
                <a:sym typeface="Times New Roman"/>
              </a:rPr>
              <a:t> normalized criterion rasters combined using weighted overlay to produce final suitability raster (0 to 1)</a:t>
            </a:r>
          </a:p>
          <a:p>
            <a:pPr algn="l" marL="613673" indent="-306837" lvl="1">
              <a:lnSpc>
                <a:spcPts val="3979"/>
              </a:lnSpc>
              <a:buFont typeface="Arial"/>
              <a:buChar char="•"/>
            </a:pPr>
            <a:r>
              <a:rPr lang="en-US" b="true" sz="2842">
                <a:solidFill>
                  <a:srgbClr val="000000"/>
                </a:solidFill>
                <a:latin typeface="Times New Roman Bold"/>
                <a:ea typeface="Times New Roman Bold"/>
                <a:cs typeface="Times New Roman Bold"/>
                <a:sym typeface="Times New Roman Bold"/>
              </a:rPr>
              <a:t>Outputs: </a:t>
            </a:r>
            <a:r>
              <a:rPr lang="en-US" sz="2842">
                <a:solidFill>
                  <a:srgbClr val="000000"/>
                </a:solidFill>
                <a:latin typeface="Times New Roman"/>
                <a:ea typeface="Times New Roman"/>
                <a:cs typeface="Times New Roman"/>
                <a:sym typeface="Times New Roman"/>
              </a:rPr>
              <a:t>suitability zones (Low / Medium / High) and top ranked candidate sites with location details and per-criterion explainability</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27</a:t>
            </a:r>
          </a:p>
        </p:txBody>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Our Implemented Methodology</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235431" y="1862073"/>
            <a:ext cx="15817139" cy="6894515"/>
          </a:xfrm>
          <a:prstGeom prst="rect">
            <a:avLst/>
          </a:prstGeom>
        </p:spPr>
        <p:txBody>
          <a:bodyPr anchor="t" rtlCol="false" tIns="0" lIns="0" bIns="0" rIns="0">
            <a:spAutoFit/>
          </a:bodyPr>
          <a:lstStyle/>
          <a:p>
            <a:pPr algn="l" marL="601601"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Integration of advanced MCDA variants:</a:t>
            </a:r>
            <a:r>
              <a:rPr lang="en-US" sz="2786">
                <a:solidFill>
                  <a:srgbClr val="000000"/>
                </a:solidFill>
                <a:latin typeface="Times New Roman"/>
                <a:ea typeface="Times New Roman"/>
                <a:cs typeface="Times New Roman"/>
                <a:sym typeface="Times New Roman"/>
              </a:rPr>
              <a:t> extend beyond standard weighted overlay to support AHP–TOPSIS (ranking by distance from ideal solution), AHP–PROMETHEE (outranking-based comparison), and Fuzzy-AHP (to handle uncertainty in expert judgments) for more robust site ranking.</a:t>
            </a:r>
          </a:p>
          <a:p>
            <a:pPr algn="l" marL="601601"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Scenario-based planning:</a:t>
            </a:r>
            <a:r>
              <a:rPr lang="en-US" sz="2786">
                <a:solidFill>
                  <a:srgbClr val="000000"/>
                </a:solidFill>
                <a:latin typeface="Times New Roman"/>
                <a:ea typeface="Times New Roman"/>
                <a:cs typeface="Times New Roman"/>
                <a:sym typeface="Times New Roman"/>
              </a:rPr>
              <a:t> run multiple scenarios (e.g., "maximize recharge", "minimize construction risk", "community-focused") and compare resulting suitability maps side by side.</a:t>
            </a:r>
          </a:p>
          <a:p>
            <a:pPr algn="l" marL="601601"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Stakeholder-driven weights:</a:t>
            </a:r>
            <a:r>
              <a:rPr lang="en-US" sz="2786">
                <a:solidFill>
                  <a:srgbClr val="000000"/>
                </a:solidFill>
                <a:latin typeface="Times New Roman"/>
                <a:ea typeface="Times New Roman"/>
                <a:cs typeface="Times New Roman"/>
                <a:sym typeface="Times New Roman"/>
              </a:rPr>
              <a:t> allow users and experts to adjust AHP pairwise comparisons directly (or select from predefined "templates") and regenerate criterion weights on the fly.</a:t>
            </a:r>
          </a:p>
          <a:p>
            <a:pPr algn="l" marL="601601"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Uncertainty and sensitivity analysis: </a:t>
            </a:r>
            <a:r>
              <a:rPr lang="en-US" sz="2786">
                <a:solidFill>
                  <a:srgbClr val="000000"/>
                </a:solidFill>
                <a:latin typeface="Times New Roman"/>
                <a:ea typeface="Times New Roman"/>
                <a:cs typeface="Times New Roman"/>
                <a:sym typeface="Times New Roman"/>
              </a:rPr>
              <a:t>test how site rankings change as weights vary across plausible ranges, assessing the robustness of top candidate sites to weight uncertainty.</a:t>
            </a:r>
          </a:p>
          <a:p>
            <a:pPr algn="l" marL="601601"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Stronger constraints and exclusions:</a:t>
            </a:r>
            <a:r>
              <a:rPr lang="en-US" sz="2786">
                <a:solidFill>
                  <a:srgbClr val="000000"/>
                </a:solidFill>
                <a:latin typeface="Times New Roman"/>
                <a:ea typeface="Times New Roman"/>
                <a:cs typeface="Times New Roman"/>
                <a:sym typeface="Times New Roman"/>
              </a:rPr>
              <a:t> apply explicit Boolean masks for settlements, protected areas, steep slopes, and unsuitable land classes to hard-exclude areas before suitability scoring.</a:t>
            </a:r>
          </a:p>
          <a:p>
            <a:pPr algn="l" marL="601601"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Validation plan:</a:t>
            </a:r>
            <a:r>
              <a:rPr lang="en-US" sz="2786">
                <a:solidFill>
                  <a:srgbClr val="000000"/>
                </a:solidFill>
                <a:latin typeface="Times New Roman"/>
                <a:ea typeface="Times New Roman"/>
                <a:cs typeface="Times New Roman"/>
                <a:sym typeface="Times New Roman"/>
              </a:rPr>
              <a:t> compare predicted high-suitability areas against known existing RWH structures and field observations, compute accuracy metrics (e.g., AUC), and iteratively refine criteria weights and thresholds based on findings.</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28</a:t>
            </a:r>
          </a:p>
        </p:txBody>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Proposed Methodology</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907912" y="2223916"/>
            <a:ext cx="16472175" cy="5762968"/>
          </a:xfrm>
          <a:prstGeom prst="rect">
            <a:avLst/>
          </a:prstGeom>
        </p:spPr>
        <p:txBody>
          <a:bodyPr anchor="t" rtlCol="false" tIns="0" lIns="0" bIns="0" rIns="0">
            <a:spAutoFit/>
          </a:bodyPr>
          <a:lstStyle/>
          <a:p>
            <a:pPr algn="l">
              <a:lnSpc>
                <a:spcPts val="4181"/>
              </a:lnSpc>
            </a:pPr>
            <a:r>
              <a:rPr lang="en-US" sz="2986" b="true">
                <a:solidFill>
                  <a:srgbClr val="000000"/>
                </a:solidFill>
                <a:latin typeface="Times New Roman Bold"/>
                <a:ea typeface="Times New Roman Bold"/>
                <a:cs typeface="Times New Roman Bold"/>
                <a:sym typeface="Times New Roman Bold"/>
              </a:rPr>
              <a:t>Goal:</a:t>
            </a:r>
            <a:r>
              <a:rPr lang="en-US" sz="2986">
                <a:solidFill>
                  <a:srgbClr val="000000"/>
                </a:solidFill>
                <a:latin typeface="Times New Roman"/>
                <a:ea typeface="Times New Roman"/>
                <a:cs typeface="Times New Roman"/>
                <a:sym typeface="Times New Roman"/>
              </a:rPr>
              <a:t> convert expert judgment into numeric weights using a fixed pairwise comparison matrix.</a:t>
            </a:r>
          </a:p>
          <a:p>
            <a:pPr algn="l" marL="644780" indent="-322390" lvl="1">
              <a:lnSpc>
                <a:spcPts val="4181"/>
              </a:lnSpc>
              <a:buFont typeface="Arial"/>
              <a:buChar char="•"/>
            </a:pPr>
            <a:r>
              <a:rPr lang="en-US" b="true" sz="2986">
                <a:solidFill>
                  <a:srgbClr val="000000"/>
                </a:solidFill>
                <a:latin typeface="Times New Roman Bold"/>
                <a:ea typeface="Times New Roman Bold"/>
                <a:cs typeface="Times New Roman Bold"/>
                <a:sym typeface="Times New Roman Bold"/>
              </a:rPr>
              <a:t>Step 1: </a:t>
            </a:r>
            <a:r>
              <a:rPr lang="en-US" sz="2986">
                <a:solidFill>
                  <a:srgbClr val="000000"/>
                </a:solidFill>
                <a:latin typeface="Times New Roman"/>
                <a:ea typeface="Times New Roman"/>
                <a:cs typeface="Times New Roman"/>
                <a:sym typeface="Times New Roman"/>
              </a:rPr>
              <a:t>Pairwise comparison matrix (n x n) Uses Saaty 1 to 9 scale: 1 = equal importance, 9 = extremely more important. Matrix is reciprocal: if criterion A is 5x more important than B, then B is 1/5 relative to A.</a:t>
            </a:r>
          </a:p>
          <a:p>
            <a:pPr algn="l" marL="644780" indent="-322390" lvl="1">
              <a:lnSpc>
                <a:spcPts val="4181"/>
              </a:lnSpc>
              <a:buFont typeface="Arial"/>
              <a:buChar char="•"/>
            </a:pPr>
            <a:r>
              <a:rPr lang="en-US" b="true" sz="2986">
                <a:solidFill>
                  <a:srgbClr val="000000"/>
                </a:solidFill>
                <a:latin typeface="Times New Roman Bold"/>
                <a:ea typeface="Times New Roman Bold"/>
                <a:cs typeface="Times New Roman Bold"/>
                <a:sym typeface="Times New Roman Bold"/>
              </a:rPr>
              <a:t>Step 2:</a:t>
            </a:r>
            <a:r>
              <a:rPr lang="en-US" sz="2986">
                <a:solidFill>
                  <a:srgbClr val="000000"/>
                </a:solidFill>
                <a:latin typeface="Times New Roman"/>
                <a:ea typeface="Times New Roman"/>
                <a:cs typeface="Times New Roman"/>
                <a:sym typeface="Times New Roman"/>
              </a:rPr>
              <a:t> Compute weights (priority vector) using geometric mean method: For each row, compute the geometric mean of all values in that row. Normalize by dividing each row's geometric mean by the sum of all geometric means to obtain the weight for that criterion.</a:t>
            </a:r>
          </a:p>
          <a:p>
            <a:pPr algn="l" marL="644780" indent="-322390" lvl="1">
              <a:lnSpc>
                <a:spcPts val="4181"/>
              </a:lnSpc>
              <a:buFont typeface="Arial"/>
              <a:buChar char="•"/>
            </a:pPr>
            <a:r>
              <a:rPr lang="en-US" b="true" sz="2986">
                <a:solidFill>
                  <a:srgbClr val="000000"/>
                </a:solidFill>
                <a:latin typeface="Times New Roman Bold"/>
                <a:ea typeface="Times New Roman Bold"/>
                <a:cs typeface="Times New Roman Bold"/>
                <a:sym typeface="Times New Roman Bold"/>
              </a:rPr>
              <a:t>Step 3:</a:t>
            </a:r>
            <a:r>
              <a:rPr lang="en-US" sz="2986">
                <a:solidFill>
                  <a:srgbClr val="000000"/>
                </a:solidFill>
                <a:latin typeface="Times New Roman"/>
                <a:ea typeface="Times New Roman"/>
                <a:cs typeface="Times New Roman"/>
                <a:sym typeface="Times New Roman"/>
              </a:rPr>
              <a:t> Consistency check: Compute lambda-max as the average of (matrix times weight vector) divided by weight vector, element-wise. Compute Consistency Index (CI) = (lambda-max minus n) divided by (n minus 1). Compute Consistency Ratio (CR) = CI divided by the Random Index (RI) for n criteria. Judgment matrix is acceptable if CR is less than 0.10.</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29</a:t>
            </a:r>
          </a:p>
        </p:txBody>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Working of AHP</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84447" y="419576"/>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Freeform 12" id="12"/>
          <p:cNvSpPr/>
          <p:nvPr/>
        </p:nvSpPr>
        <p:spPr>
          <a:xfrm flipH="false" flipV="false" rot="0">
            <a:off x="3056066" y="581577"/>
            <a:ext cx="13023223" cy="8676723"/>
          </a:xfrm>
          <a:custGeom>
            <a:avLst/>
            <a:gdLst/>
            <a:ahLst/>
            <a:cxnLst/>
            <a:rect r="r" b="b" t="t" l="l"/>
            <a:pathLst>
              <a:path h="8676723" w="13023223">
                <a:moveTo>
                  <a:pt x="0" y="0"/>
                </a:moveTo>
                <a:lnTo>
                  <a:pt x="13023223" y="0"/>
                </a:lnTo>
                <a:lnTo>
                  <a:pt x="13023223" y="8676723"/>
                </a:lnTo>
                <a:lnTo>
                  <a:pt x="0" y="8676723"/>
                </a:lnTo>
                <a:lnTo>
                  <a:pt x="0" y="0"/>
                </a:lnTo>
                <a:close/>
              </a:path>
            </a:pathLst>
          </a:custGeom>
          <a:blipFill>
            <a:blip r:embed="rId4"/>
            <a:stretch>
              <a:fillRect l="0" t="0" r="0" b="0"/>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827387" y="1883238"/>
            <a:ext cx="17045146" cy="6444323"/>
          </a:xfrm>
          <a:prstGeom prst="rect">
            <a:avLst/>
          </a:prstGeom>
        </p:spPr>
        <p:txBody>
          <a:bodyPr anchor="t" rtlCol="false" tIns="0" lIns="0" bIns="0" rIns="0">
            <a:spAutoFit/>
          </a:bodyPr>
          <a:lstStyle/>
          <a:p>
            <a:pPr algn="l">
              <a:lnSpc>
                <a:spcPts val="3901"/>
              </a:lnSpc>
            </a:pPr>
            <a:r>
              <a:rPr lang="en-US" sz="2786" b="true">
                <a:solidFill>
                  <a:srgbClr val="000000"/>
                </a:solidFill>
                <a:latin typeface="Times New Roman Bold"/>
                <a:ea typeface="Times New Roman Bold"/>
                <a:cs typeface="Times New Roman Bold"/>
                <a:sym typeface="Times New Roman Bold"/>
              </a:rPr>
              <a:t>Goal:</a:t>
            </a:r>
            <a:r>
              <a:rPr lang="en-US" sz="2786">
                <a:solidFill>
                  <a:srgbClr val="000000"/>
                </a:solidFill>
                <a:latin typeface="Times New Roman"/>
                <a:ea typeface="Times New Roman"/>
                <a:cs typeface="Times New Roman"/>
                <a:sym typeface="Times New Roman"/>
              </a:rPr>
              <a:t> combine multiple spatial criteria into one suitability score per pixel.</a:t>
            </a:r>
          </a:p>
          <a:p>
            <a:pPr algn="l" marL="601602"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Step 1:</a:t>
            </a:r>
            <a:r>
              <a:rPr lang="en-US" sz="2786">
                <a:solidFill>
                  <a:srgbClr val="000000"/>
                </a:solidFill>
                <a:latin typeface="Times New Roman"/>
                <a:ea typeface="Times New Roman"/>
                <a:cs typeface="Times New Roman"/>
                <a:sym typeface="Times New Roman"/>
              </a:rPr>
              <a:t> Normalize each criterion raster to a 0 to 1 suitability scale:</a:t>
            </a:r>
          </a:p>
          <a:p>
            <a:pPr algn="l">
              <a:lnSpc>
                <a:spcPts val="3901"/>
              </a:lnSpc>
            </a:pPr>
            <a:r>
              <a:rPr lang="en-US" sz="2786">
                <a:solidFill>
                  <a:srgbClr val="000000"/>
                </a:solidFill>
                <a:latin typeface="Times New Roman"/>
                <a:ea typeface="Times New Roman"/>
                <a:cs typeface="Times New Roman"/>
                <a:sym typeface="Times New Roman"/>
              </a:rPr>
              <a:t>    </a:t>
            </a:r>
            <a:r>
              <a:rPr lang="en-US" sz="2786" b="true">
                <a:solidFill>
                  <a:srgbClr val="000000"/>
                </a:solidFill>
                <a:latin typeface="Times New Roman Bold"/>
                <a:ea typeface="Times New Roman Bold"/>
                <a:cs typeface="Times New Roman Bold"/>
                <a:sym typeface="Times New Roman Bold"/>
              </a:rPr>
              <a:t>1. </a:t>
            </a:r>
            <a:r>
              <a:rPr lang="en-US" sz="2786">
                <a:solidFill>
                  <a:srgbClr val="000000"/>
                </a:solidFill>
                <a:latin typeface="Times New Roman"/>
                <a:ea typeface="Times New Roman"/>
                <a:cs typeface="Times New Roman"/>
                <a:sym typeface="Times New Roman"/>
              </a:rPr>
              <a:t>Benefit criterion (higher is better): rescale increasing, so highest value maps to 1</a:t>
            </a:r>
          </a:p>
          <a:p>
            <a:pPr algn="l">
              <a:lnSpc>
                <a:spcPts val="3901"/>
              </a:lnSpc>
            </a:pPr>
            <a:r>
              <a:rPr lang="en-US" sz="2786">
                <a:solidFill>
                  <a:srgbClr val="000000"/>
                </a:solidFill>
                <a:latin typeface="Times New Roman"/>
                <a:ea typeface="Times New Roman"/>
                <a:cs typeface="Times New Roman"/>
                <a:sym typeface="Times New Roman"/>
              </a:rPr>
              <a:t>    </a:t>
            </a:r>
            <a:r>
              <a:rPr lang="en-US" sz="2786" b="true">
                <a:solidFill>
                  <a:srgbClr val="000000"/>
                </a:solidFill>
                <a:latin typeface="Times New Roman Bold"/>
                <a:ea typeface="Times New Roman Bold"/>
                <a:cs typeface="Times New Roman Bold"/>
                <a:sym typeface="Times New Roman Bold"/>
              </a:rPr>
              <a:t>2.</a:t>
            </a:r>
            <a:r>
              <a:rPr lang="en-US" sz="2786">
                <a:solidFill>
                  <a:srgbClr val="000000"/>
                </a:solidFill>
                <a:latin typeface="Times New Roman"/>
                <a:ea typeface="Times New Roman"/>
                <a:cs typeface="Times New Roman"/>
                <a:sym typeface="Times New Roman"/>
              </a:rPr>
              <a:t> </a:t>
            </a:r>
            <a:r>
              <a:rPr lang="en-US" sz="2786">
                <a:solidFill>
                  <a:srgbClr val="000000"/>
                </a:solidFill>
                <a:latin typeface="Times New Roman"/>
                <a:ea typeface="Times New Roman"/>
                <a:cs typeface="Times New Roman"/>
                <a:sym typeface="Times New Roman"/>
              </a:rPr>
              <a:t>Cost criterion (lower is better): rescale decreasing, so lowest value maps to 1</a:t>
            </a:r>
          </a:p>
          <a:p>
            <a:pPr algn="l">
              <a:lnSpc>
                <a:spcPts val="3901"/>
              </a:lnSpc>
            </a:pPr>
            <a:r>
              <a:rPr lang="en-US" sz="2786">
                <a:solidFill>
                  <a:srgbClr val="000000"/>
                </a:solidFill>
                <a:latin typeface="Times New Roman"/>
                <a:ea typeface="Times New Roman"/>
                <a:cs typeface="Times New Roman"/>
                <a:sym typeface="Times New Roman"/>
              </a:rPr>
              <a:t>    </a:t>
            </a:r>
            <a:r>
              <a:rPr lang="en-US" sz="2786" b="true">
                <a:solidFill>
                  <a:srgbClr val="000000"/>
                </a:solidFill>
                <a:latin typeface="Times New Roman Bold"/>
                <a:ea typeface="Times New Roman Bold"/>
                <a:cs typeface="Times New Roman Bold"/>
                <a:sym typeface="Times New Roman Bold"/>
              </a:rPr>
              <a:t>3. </a:t>
            </a:r>
            <a:r>
              <a:rPr lang="en-US" sz="2786">
                <a:solidFill>
                  <a:srgbClr val="000000"/>
                </a:solidFill>
                <a:latin typeface="Times New Roman"/>
                <a:ea typeface="Times New Roman"/>
                <a:cs typeface="Times New Roman"/>
                <a:sym typeface="Times New Roman"/>
              </a:rPr>
              <a:t>Moderate-optimal (best in a middle range): suitability peaks at an optimal distance then decreases on both sides</a:t>
            </a:r>
          </a:p>
          <a:p>
            <a:pPr algn="l" marL="601602"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Step 2:</a:t>
            </a:r>
            <a:r>
              <a:rPr lang="en-US" sz="2786">
                <a:solidFill>
                  <a:srgbClr val="000000"/>
                </a:solidFill>
                <a:latin typeface="Times New Roman"/>
                <a:ea typeface="Times New Roman"/>
                <a:cs typeface="Times New Roman"/>
                <a:sym typeface="Times New Roman"/>
              </a:rPr>
              <a:t> Weighted sum to get final suitability per pixel: Final suitability S(x,y) = sum of (weight_i multiplied by normalized_raster_i) for all criteria i, where weight_i is the AHP weight and normalized_raster_i is the 0 to 1 suitability value of criterion i at that pixel.</a:t>
            </a:r>
          </a:p>
          <a:p>
            <a:pPr algn="l" marL="601602"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Step 3:</a:t>
            </a:r>
            <a:r>
              <a:rPr lang="en-US" sz="2786">
                <a:solidFill>
                  <a:srgbClr val="000000"/>
                </a:solidFill>
                <a:latin typeface="Times New Roman"/>
                <a:ea typeface="Times New Roman"/>
                <a:cs typeface="Times New Roman"/>
                <a:sym typeface="Times New Roman"/>
              </a:rPr>
              <a:t> Classification for interpretation: Continuous score converted into Low / Medium / High classes using the 33rd and 67th percentile thresholds.</a:t>
            </a:r>
          </a:p>
          <a:p>
            <a:pPr algn="l" marL="601602" indent="-300801" lvl="1">
              <a:lnSpc>
                <a:spcPts val="3901"/>
              </a:lnSpc>
              <a:buFont typeface="Arial"/>
              <a:buChar char="•"/>
            </a:pPr>
            <a:r>
              <a:rPr lang="en-US" b="true" sz="2786">
                <a:solidFill>
                  <a:srgbClr val="000000"/>
                </a:solidFill>
                <a:latin typeface="Times New Roman Bold"/>
                <a:ea typeface="Times New Roman Bold"/>
                <a:cs typeface="Times New Roman Bold"/>
                <a:sym typeface="Times New Roman Bold"/>
              </a:rPr>
              <a:t>Step 4:</a:t>
            </a:r>
            <a:r>
              <a:rPr lang="en-US" sz="2786">
                <a:solidFill>
                  <a:srgbClr val="000000"/>
                </a:solidFill>
                <a:latin typeface="Times New Roman"/>
                <a:ea typeface="Times New Roman"/>
                <a:cs typeface="Times New Roman"/>
                <a:sym typeface="Times New Roman"/>
              </a:rPr>
              <a:t> Candidate extraction: Stage 1: best-per-tile selection within high-suitability mask to ensure district-wide coverage. Stage 2: global maxima fill with minimum separation constraint (km). Final ranks assigned strictly by suitability score descending.</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31</a:t>
            </a:r>
          </a:p>
        </p:txBody>
      </p:sp>
      <p:sp>
        <p:nvSpPr>
          <p:cNvPr name="TextBox 14" id="14"/>
          <p:cNvSpPr txBox="true"/>
          <p:nvPr/>
        </p:nvSpPr>
        <p:spPr>
          <a:xfrm rot="0">
            <a:off x="4106885" y="736982"/>
            <a:ext cx="11914193" cy="679704"/>
          </a:xfrm>
          <a:prstGeom prst="rect">
            <a:avLst/>
          </a:prstGeom>
        </p:spPr>
        <p:txBody>
          <a:bodyPr anchor="t" rtlCol="false" tIns="0" lIns="0" bIns="0" rIns="0">
            <a:spAutoFit/>
          </a:bodyPr>
          <a:lstStyle/>
          <a:p>
            <a:pPr algn="ctr">
              <a:lnSpc>
                <a:spcPts val="4968"/>
              </a:lnSpc>
              <a:spcBef>
                <a:spcPct val="0"/>
              </a:spcBef>
            </a:pPr>
            <a:r>
              <a:rPr lang="en-US" b="true" sz="4600">
                <a:solidFill>
                  <a:srgbClr val="000000"/>
                </a:solidFill>
                <a:latin typeface="Times New Roman Bold"/>
                <a:ea typeface="Times New Roman Bold"/>
                <a:cs typeface="Times New Roman Bold"/>
                <a:sym typeface="Times New Roman Bold"/>
              </a:rPr>
              <a:t>Working of MCDA (Weighted Overlay / WLC)</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sp>
        <p:nvSpPr>
          <p:cNvPr name="Freeform 8" id="8"/>
          <p:cNvSpPr/>
          <p:nvPr/>
        </p:nvSpPr>
        <p:spPr>
          <a:xfrm flipH="false" flipV="false" rot="0">
            <a:off x="2550385" y="30731"/>
            <a:ext cx="13187231" cy="9890423"/>
          </a:xfrm>
          <a:custGeom>
            <a:avLst/>
            <a:gdLst/>
            <a:ahLst/>
            <a:cxnLst/>
            <a:rect r="r" b="b" t="t" l="l"/>
            <a:pathLst>
              <a:path h="9890423" w="13187231">
                <a:moveTo>
                  <a:pt x="0" y="0"/>
                </a:moveTo>
                <a:lnTo>
                  <a:pt x="13187230" y="0"/>
                </a:lnTo>
                <a:lnTo>
                  <a:pt x="13187230" y="9890423"/>
                </a:lnTo>
                <a:lnTo>
                  <a:pt x="0" y="9890423"/>
                </a:lnTo>
                <a:lnTo>
                  <a:pt x="0" y="0"/>
                </a:lnTo>
                <a:close/>
              </a:path>
            </a:pathLst>
          </a:custGeom>
          <a:blipFill>
            <a:blip r:embed="rId2"/>
            <a:stretch>
              <a:fillRect l="0" t="0" r="0" b="0"/>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33</a:t>
            </a:r>
          </a:p>
        </p:txBody>
      </p:sp>
      <p:sp>
        <p:nvSpPr>
          <p:cNvPr name="TextBox 13" id="13"/>
          <p:cNvSpPr txBox="true"/>
          <p:nvPr/>
        </p:nvSpPr>
        <p:spPr>
          <a:xfrm rot="0">
            <a:off x="4127017" y="810092"/>
            <a:ext cx="12196031" cy="742950"/>
          </a:xfrm>
          <a:prstGeom prst="rect">
            <a:avLst/>
          </a:prstGeom>
        </p:spPr>
        <p:txBody>
          <a:bodyPr anchor="t" rtlCol="false" tIns="0" lIns="0" bIns="0" rIns="0">
            <a:spAutoFit/>
          </a:bodyPr>
          <a:lstStyle/>
          <a:p>
            <a:pPr algn="ctr">
              <a:lnSpc>
                <a:spcPts val="5400"/>
              </a:lnSpc>
              <a:spcBef>
                <a:spcPct val="0"/>
              </a:spcBef>
            </a:pPr>
            <a:r>
              <a:rPr lang="en-US" b="true" sz="5000">
                <a:solidFill>
                  <a:srgbClr val="000000"/>
                </a:solidFill>
                <a:latin typeface="Times New Roman Bold"/>
                <a:ea typeface="Times New Roman Bold"/>
                <a:cs typeface="Times New Roman Bold"/>
                <a:sym typeface="Times New Roman Bold"/>
              </a:rPr>
              <a:t>Explainability(Justification of Selected Sites)</a:t>
            </a:r>
          </a:p>
        </p:txBody>
      </p:sp>
      <p:sp>
        <p:nvSpPr>
          <p:cNvPr name="TextBox 14" id="14"/>
          <p:cNvSpPr txBox="true"/>
          <p:nvPr/>
        </p:nvSpPr>
        <p:spPr>
          <a:xfrm rot="0">
            <a:off x="628831" y="1970595"/>
            <a:ext cx="17045146" cy="7070433"/>
          </a:xfrm>
          <a:prstGeom prst="rect">
            <a:avLst/>
          </a:prstGeom>
        </p:spPr>
        <p:txBody>
          <a:bodyPr anchor="t" rtlCol="false" tIns="0" lIns="0" bIns="0" rIns="0">
            <a:spAutoFit/>
          </a:bodyPr>
          <a:lstStyle/>
          <a:p>
            <a:pPr algn="l" marL="623191" indent="-311596" lvl="1">
              <a:lnSpc>
                <a:spcPts val="4041"/>
              </a:lnSpc>
              <a:buFont typeface="Arial"/>
              <a:buChar char="•"/>
            </a:pPr>
            <a:r>
              <a:rPr lang="en-US" b="true" sz="2886">
                <a:solidFill>
                  <a:srgbClr val="000000"/>
                </a:solidFill>
                <a:latin typeface="Times New Roman Bold"/>
                <a:ea typeface="Times New Roman Bold"/>
                <a:cs typeface="Times New Roman Bold"/>
                <a:sym typeface="Times New Roman Bold"/>
              </a:rPr>
              <a:t>Coordinates, rank, and overall suitability score: </a:t>
            </a:r>
            <a:r>
              <a:rPr lang="en-US" sz="2886">
                <a:solidFill>
                  <a:srgbClr val="000000"/>
                </a:solidFill>
                <a:latin typeface="Times New Roman"/>
                <a:ea typeface="Times New Roman"/>
                <a:cs typeface="Times New Roman"/>
                <a:sym typeface="Times New Roman"/>
              </a:rPr>
              <a:t>Each site is assigned a rank and a final suitability score (0 to 1), giving planners a clear and comparable reference across all top-ranked locations.</a:t>
            </a:r>
          </a:p>
          <a:p>
            <a:pPr algn="l" marL="623191" indent="-311596" lvl="1">
              <a:lnSpc>
                <a:spcPts val="4041"/>
              </a:lnSpc>
              <a:buFont typeface="Arial"/>
              <a:buChar char="•"/>
            </a:pPr>
            <a:r>
              <a:rPr lang="en-US" b="true" sz="2886">
                <a:solidFill>
                  <a:srgbClr val="000000"/>
                </a:solidFill>
                <a:latin typeface="Times New Roman Bold"/>
                <a:ea typeface="Times New Roman Bold"/>
                <a:cs typeface="Times New Roman Bold"/>
                <a:sym typeface="Times New Roman Bold"/>
              </a:rPr>
              <a:t>Per-criterion suitability percentage:</a:t>
            </a:r>
            <a:r>
              <a:rPr lang="en-US" sz="2886">
                <a:solidFill>
                  <a:srgbClr val="000000"/>
                </a:solidFill>
                <a:latin typeface="Times New Roman"/>
                <a:ea typeface="Times New Roman"/>
                <a:cs typeface="Times New Roman"/>
                <a:sym typeface="Times New Roman"/>
              </a:rPr>
              <a:t> The normalized score at that location multiplied by 100, showing exactly how well each individual factor performs at the chosen site rather than just the aggregate.</a:t>
            </a:r>
          </a:p>
          <a:p>
            <a:pPr algn="l" marL="623191" indent="-311596" lvl="1">
              <a:lnSpc>
                <a:spcPts val="4041"/>
              </a:lnSpc>
              <a:buFont typeface="Arial"/>
              <a:buChar char="•"/>
            </a:pPr>
            <a:r>
              <a:rPr lang="en-US" b="true" sz="2886">
                <a:solidFill>
                  <a:srgbClr val="000000"/>
                </a:solidFill>
                <a:latin typeface="Times New Roman Bold"/>
                <a:ea typeface="Times New Roman Bold"/>
                <a:cs typeface="Times New Roman Bold"/>
                <a:sym typeface="Times New Roman Bold"/>
              </a:rPr>
              <a:t>Weighted contribution per criterion:</a:t>
            </a:r>
            <a:r>
              <a:rPr lang="en-US" sz="2886">
                <a:solidFill>
                  <a:srgbClr val="000000"/>
                </a:solidFill>
                <a:latin typeface="Times New Roman"/>
                <a:ea typeface="Times New Roman"/>
                <a:cs typeface="Times New Roman"/>
                <a:sym typeface="Times New Roman"/>
              </a:rPr>
              <a:t> AHP weight multiplied by normalized score for each criterion, making it transparent how much each factor actually drove the final suitability score for that site.</a:t>
            </a:r>
          </a:p>
          <a:p>
            <a:pPr algn="l" marL="623191" indent="-311596" lvl="1">
              <a:lnSpc>
                <a:spcPts val="4041"/>
              </a:lnSpc>
              <a:buFont typeface="Arial"/>
              <a:buChar char="•"/>
            </a:pPr>
            <a:r>
              <a:rPr lang="en-US" b="true" sz="2886">
                <a:solidFill>
                  <a:srgbClr val="000000"/>
                </a:solidFill>
                <a:latin typeface="Times New Roman Bold"/>
                <a:ea typeface="Times New Roman Bold"/>
                <a:cs typeface="Times New Roman Bold"/>
                <a:sym typeface="Times New Roman Bold"/>
              </a:rPr>
              <a:t>Criteria satisfied list:</a:t>
            </a:r>
            <a:r>
              <a:rPr lang="en-US" sz="2886">
                <a:solidFill>
                  <a:srgbClr val="000000"/>
                </a:solidFill>
                <a:latin typeface="Times New Roman"/>
                <a:ea typeface="Times New Roman"/>
                <a:cs typeface="Times New Roman"/>
                <a:sym typeface="Times New Roman"/>
              </a:rPr>
              <a:t> Criteria where the normalized score meets or exceeds the threshold (0.66), giving a quick human-readable summary of which key conditions are confidently met at that location.</a:t>
            </a:r>
          </a:p>
          <a:p>
            <a:pPr algn="l" marL="623191" indent="-311596" lvl="1">
              <a:lnSpc>
                <a:spcPts val="4041"/>
              </a:lnSpc>
              <a:buFont typeface="Arial"/>
              <a:buChar char="•"/>
            </a:pPr>
            <a:r>
              <a:rPr lang="en-US" b="true" sz="2886">
                <a:solidFill>
                  <a:srgbClr val="000000"/>
                </a:solidFill>
                <a:latin typeface="Times New Roman Bold"/>
                <a:ea typeface="Times New Roman Bold"/>
                <a:cs typeface="Times New Roman Bold"/>
                <a:sym typeface="Times New Roman Bold"/>
              </a:rPr>
              <a:t>AHP priority ordering:</a:t>
            </a:r>
            <a:r>
              <a:rPr lang="en-US" sz="2886">
                <a:solidFill>
                  <a:srgbClr val="000000"/>
                </a:solidFill>
                <a:latin typeface="Times New Roman"/>
                <a:ea typeface="Times New Roman"/>
                <a:cs typeface="Times New Roman"/>
                <a:sym typeface="Times New Roman"/>
              </a:rPr>
              <a:t> All criteria are displayed highest weight first, ensuring the explainability output reflects the same decision logic used during scoring and making expert review straightforward.</a:t>
            </a:r>
          </a:p>
          <a:p>
            <a:pPr algn="l" marL="623191" indent="-311596" lvl="1">
              <a:lnSpc>
                <a:spcPts val="4041"/>
              </a:lnSpc>
              <a:buFont typeface="Arial"/>
              <a:buChar char="•"/>
            </a:pPr>
            <a:r>
              <a:rPr lang="en-US" b="true" sz="2886">
                <a:solidFill>
                  <a:srgbClr val="000000"/>
                </a:solidFill>
                <a:latin typeface="Times New Roman Bold"/>
                <a:ea typeface="Times New Roman Bold"/>
                <a:cs typeface="Times New Roman Bold"/>
                <a:sym typeface="Times New Roman Bold"/>
              </a:rPr>
              <a:t>Side-by-side compare panel:</a:t>
            </a:r>
            <a:r>
              <a:rPr lang="en-US" sz="2886">
                <a:solidFill>
                  <a:srgbClr val="000000"/>
                </a:solidFill>
                <a:latin typeface="Times New Roman"/>
                <a:ea typeface="Times New Roman"/>
                <a:cs typeface="Times New Roman"/>
                <a:sym typeface="Times New Roman"/>
              </a:rPr>
              <a:t> Site A vs Site B with per-criterion arrows indicating which site scores better on each factor and an overall winner, supporting transparent comparative decision-making between shortlisted candidates.</a:t>
            </a:r>
          </a:p>
          <a:p>
            <a:pPr algn="l">
              <a:lnSpc>
                <a:spcPts val="4041"/>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285041" y="1590169"/>
            <a:ext cx="15974259" cy="7809739"/>
          </a:xfrm>
          <a:prstGeom prst="rect">
            <a:avLst/>
          </a:prstGeom>
        </p:spPr>
        <p:txBody>
          <a:bodyPr anchor="t" rtlCol="false" tIns="0" lIns="0" bIns="0" rIns="0">
            <a:spAutoFit/>
          </a:bodyPr>
          <a:lstStyle/>
          <a:p>
            <a:pPr algn="l">
              <a:lnSpc>
                <a:spcPts val="2592"/>
              </a:lnSpc>
            </a:pPr>
            <a:r>
              <a:rPr lang="en-US" sz="2400" b="true">
                <a:solidFill>
                  <a:srgbClr val="000000"/>
                </a:solidFill>
                <a:latin typeface="Times New Roman Bold"/>
                <a:ea typeface="Times New Roman Bold"/>
                <a:cs typeface="Times New Roman Bold"/>
                <a:sym typeface="Times New Roman Bold"/>
              </a:rPr>
              <a:t>Phase 1: Planning &amp; System Design </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System Architecture Finalization</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Project Scope &amp; Requirements</a:t>
            </a:r>
          </a:p>
          <a:p>
            <a:pPr algn="l">
              <a:lnSpc>
                <a:spcPts val="2592"/>
              </a:lnSpc>
            </a:pPr>
            <a:r>
              <a:rPr lang="en-US" sz="2400" b="true">
                <a:solidFill>
                  <a:srgbClr val="000000"/>
                </a:solidFill>
                <a:latin typeface="Times New Roman Bold"/>
                <a:ea typeface="Times New Roman Bold"/>
                <a:cs typeface="Times New Roman Bold"/>
                <a:sym typeface="Times New Roman Bold"/>
              </a:rPr>
              <a:t>Focus: </a:t>
            </a:r>
            <a:r>
              <a:rPr lang="en-US" sz="2400">
                <a:solidFill>
                  <a:srgbClr val="000000"/>
                </a:solidFill>
                <a:latin typeface="Times New Roman"/>
                <a:ea typeface="Times New Roman"/>
                <a:cs typeface="Times New Roman"/>
                <a:sym typeface="Times New Roman"/>
              </a:rPr>
              <a:t>Define overall system workflow and finalize project scope</a:t>
            </a:r>
          </a:p>
          <a:p>
            <a:pPr algn="l">
              <a:lnSpc>
                <a:spcPts val="2592"/>
              </a:lnSpc>
            </a:pPr>
            <a:r>
              <a:rPr lang="en-US" sz="2400" b="true">
                <a:solidFill>
                  <a:srgbClr val="000000"/>
                </a:solidFill>
                <a:latin typeface="Times New Roman Bold"/>
                <a:ea typeface="Times New Roman Bold"/>
                <a:cs typeface="Times New Roman Bold"/>
                <a:sym typeface="Times New Roman Bold"/>
              </a:rPr>
              <a:t>Status:</a:t>
            </a:r>
            <a:r>
              <a:rPr lang="en-US" sz="2400">
                <a:solidFill>
                  <a:srgbClr val="00BF63"/>
                </a:solidFill>
                <a:latin typeface="Times New Roman"/>
                <a:ea typeface="Times New Roman"/>
                <a:cs typeface="Times New Roman"/>
                <a:sym typeface="Times New Roman"/>
              </a:rPr>
              <a:t>Completed</a:t>
            </a:r>
          </a:p>
          <a:p>
            <a:pPr algn="l">
              <a:lnSpc>
                <a:spcPts val="2592"/>
              </a:lnSpc>
            </a:pPr>
          </a:p>
          <a:p>
            <a:pPr algn="l">
              <a:lnSpc>
                <a:spcPts val="2592"/>
              </a:lnSpc>
            </a:pPr>
            <a:r>
              <a:rPr lang="en-US" sz="2400" b="true">
                <a:solidFill>
                  <a:srgbClr val="000000"/>
                </a:solidFill>
                <a:latin typeface="Times New Roman Bold"/>
                <a:ea typeface="Times New Roman Bold"/>
                <a:cs typeface="Times New Roman Bold"/>
                <a:sym typeface="Times New Roman Bold"/>
              </a:rPr>
              <a:t>Phase 2: Data Collection &amp; Preprocessing</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Data Collection (rainfall, slope, soil, land use/land cover, etc.)</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GIS Dataset Preparation</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Data Cleaning &amp; Standardization</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Raster Conversion and Study Area Clipping</a:t>
            </a:r>
          </a:p>
          <a:p>
            <a:pPr algn="l">
              <a:lnSpc>
                <a:spcPts val="2592"/>
              </a:lnSpc>
            </a:pPr>
            <a:r>
              <a:rPr lang="en-US" sz="2400" b="true">
                <a:solidFill>
                  <a:srgbClr val="000000"/>
                </a:solidFill>
                <a:latin typeface="Times New Roman Bold"/>
                <a:ea typeface="Times New Roman Bold"/>
                <a:cs typeface="Times New Roman Bold"/>
                <a:sym typeface="Times New Roman Bold"/>
              </a:rPr>
              <a:t>Focus:</a:t>
            </a:r>
            <a:r>
              <a:rPr lang="en-US" sz="2400">
                <a:solidFill>
                  <a:srgbClr val="000000"/>
                </a:solidFill>
                <a:latin typeface="Times New Roman"/>
                <a:ea typeface="Times New Roman"/>
                <a:cs typeface="Times New Roman"/>
                <a:sym typeface="Times New Roman"/>
              </a:rPr>
              <a:t> Prepare high-quality spatial datasets for analysis.</a:t>
            </a:r>
          </a:p>
          <a:p>
            <a:pPr algn="l">
              <a:lnSpc>
                <a:spcPts val="2592"/>
              </a:lnSpc>
            </a:pPr>
            <a:r>
              <a:rPr lang="en-US" sz="2400" b="true">
                <a:solidFill>
                  <a:srgbClr val="000000"/>
                </a:solidFill>
                <a:latin typeface="Times New Roman Bold"/>
                <a:ea typeface="Times New Roman Bold"/>
                <a:cs typeface="Times New Roman Bold"/>
                <a:sym typeface="Times New Roman Bold"/>
              </a:rPr>
              <a:t>Status:</a:t>
            </a:r>
            <a:r>
              <a:rPr lang="en-US" sz="2400">
                <a:solidFill>
                  <a:srgbClr val="004AAD"/>
                </a:solidFill>
                <a:latin typeface="Times New Roman"/>
                <a:ea typeface="Times New Roman"/>
                <a:cs typeface="Times New Roman"/>
                <a:sym typeface="Times New Roman"/>
              </a:rPr>
              <a:t>Ongoing</a:t>
            </a:r>
          </a:p>
          <a:p>
            <a:pPr algn="l">
              <a:lnSpc>
                <a:spcPts val="2592"/>
              </a:lnSpc>
            </a:pPr>
          </a:p>
          <a:p>
            <a:pPr algn="l">
              <a:lnSpc>
                <a:spcPts val="2592"/>
              </a:lnSpc>
            </a:pPr>
            <a:r>
              <a:rPr lang="en-US" sz="2400" b="true">
                <a:solidFill>
                  <a:srgbClr val="000000"/>
                </a:solidFill>
                <a:latin typeface="Times New Roman Bold"/>
                <a:ea typeface="Times New Roman Bold"/>
                <a:cs typeface="Times New Roman Bold"/>
                <a:sym typeface="Times New Roman Bold"/>
              </a:rPr>
              <a:t>Phase 3: MCDA and Suitability Engine</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AHP pairwise matrix setup and weight computation</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Consistency Ratio (CR) validation</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Common-grid preprocessing pipeline</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Criterion normalization (benefit, cost, moderate-optimal)</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Weighted overlay suitability computation</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Candidate site extraction (tile-based and global maxima)</a:t>
            </a:r>
          </a:p>
          <a:p>
            <a:pPr algn="l" marL="518176" indent="-259088" lvl="1">
              <a:lnSpc>
                <a:spcPts val="2592"/>
              </a:lnSpc>
              <a:buFont typeface="Arial"/>
              <a:buChar char="•"/>
            </a:pPr>
            <a:r>
              <a:rPr lang="en-US" sz="2400">
                <a:solidFill>
                  <a:srgbClr val="000000"/>
                </a:solidFill>
                <a:latin typeface="Times New Roman"/>
                <a:ea typeface="Times New Roman"/>
                <a:cs typeface="Times New Roman"/>
                <a:sym typeface="Times New Roman"/>
              </a:rPr>
              <a:t>Per-site explainability scoring</a:t>
            </a:r>
          </a:p>
          <a:p>
            <a:pPr algn="l">
              <a:lnSpc>
                <a:spcPts val="2592"/>
              </a:lnSpc>
            </a:pPr>
            <a:r>
              <a:rPr lang="en-US" sz="2400" b="true">
                <a:solidFill>
                  <a:srgbClr val="000000"/>
                </a:solidFill>
                <a:latin typeface="Times New Roman Bold"/>
                <a:ea typeface="Times New Roman Bold"/>
                <a:cs typeface="Times New Roman Bold"/>
                <a:sym typeface="Times New Roman Bold"/>
              </a:rPr>
              <a:t>Focus:</a:t>
            </a:r>
            <a:r>
              <a:rPr lang="en-US" sz="2400">
                <a:solidFill>
                  <a:srgbClr val="000000"/>
                </a:solidFill>
                <a:latin typeface="Times New Roman"/>
                <a:ea typeface="Times New Roman"/>
                <a:cs typeface="Times New Roman"/>
                <a:sym typeface="Times New Roman"/>
              </a:rPr>
              <a:t> Build and validate the full spatial suitability computation pipeline.</a:t>
            </a:r>
          </a:p>
          <a:p>
            <a:pPr algn="l">
              <a:lnSpc>
                <a:spcPts val="2700"/>
              </a:lnSpc>
              <a:spcBef>
                <a:spcPct val="0"/>
              </a:spcBef>
            </a:pPr>
            <a:r>
              <a:rPr lang="en-US" b="true" sz="2500">
                <a:solidFill>
                  <a:srgbClr val="000000"/>
                </a:solidFill>
                <a:latin typeface="Times New Roman Bold"/>
                <a:ea typeface="Times New Roman Bold"/>
                <a:cs typeface="Times New Roman Bold"/>
                <a:sym typeface="Times New Roman Bold"/>
              </a:rPr>
              <a:t>Status</a:t>
            </a:r>
            <a:r>
              <a:rPr lang="en-US" sz="2500">
                <a:solidFill>
                  <a:srgbClr val="000000"/>
                </a:solidFill>
                <a:latin typeface="Times New Roman"/>
                <a:ea typeface="Times New Roman"/>
                <a:cs typeface="Times New Roman"/>
                <a:sym typeface="Times New Roman"/>
              </a:rPr>
              <a:t>:</a:t>
            </a:r>
            <a:r>
              <a:rPr lang="en-US" sz="2500">
                <a:solidFill>
                  <a:srgbClr val="004AAD"/>
                </a:solidFill>
                <a:latin typeface="Times New Roman"/>
                <a:ea typeface="Times New Roman"/>
                <a:cs typeface="Times New Roman"/>
                <a:sym typeface="Times New Roman"/>
              </a:rPr>
              <a:t>Ongoing</a:t>
            </a:r>
          </a:p>
        </p:txBody>
      </p:sp>
      <p:sp>
        <p:nvSpPr>
          <p:cNvPr name="Freeform 13" id="13"/>
          <p:cNvSpPr/>
          <p:nvPr/>
        </p:nvSpPr>
        <p:spPr>
          <a:xfrm flipH="false" flipV="false" rot="0">
            <a:off x="11696492" y="2126071"/>
            <a:ext cx="4831288" cy="6356958"/>
          </a:xfrm>
          <a:custGeom>
            <a:avLst/>
            <a:gdLst/>
            <a:ahLst/>
            <a:cxnLst/>
            <a:rect r="r" b="b" t="t" l="l"/>
            <a:pathLst>
              <a:path h="6356958" w="4831288">
                <a:moveTo>
                  <a:pt x="0" y="0"/>
                </a:moveTo>
                <a:lnTo>
                  <a:pt x="4831288" y="0"/>
                </a:lnTo>
                <a:lnTo>
                  <a:pt x="4831288" y="6356958"/>
                </a:lnTo>
                <a:lnTo>
                  <a:pt x="0" y="6356958"/>
                </a:lnTo>
                <a:lnTo>
                  <a:pt x="0" y="0"/>
                </a:lnTo>
                <a:close/>
              </a:path>
            </a:pathLst>
          </a:custGeom>
          <a:blipFill>
            <a:blip r:embed="rId4"/>
            <a:stretch>
              <a:fillRect l="0" t="0" r="0" b="0"/>
            </a:stretch>
          </a:blipFill>
        </p:spPr>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Project Progress</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1257119" y="1795314"/>
            <a:ext cx="15974259" cy="7230238"/>
          </a:xfrm>
          <a:prstGeom prst="rect">
            <a:avLst/>
          </a:prstGeom>
        </p:spPr>
        <p:txBody>
          <a:bodyPr anchor="t" rtlCol="false" tIns="0" lIns="0" bIns="0" rIns="0">
            <a:spAutoFit/>
          </a:bodyPr>
          <a:lstStyle/>
          <a:p>
            <a:pPr algn="l">
              <a:lnSpc>
                <a:spcPts val="2916"/>
              </a:lnSpc>
            </a:pPr>
            <a:r>
              <a:rPr lang="en-US" sz="2700" b="true">
                <a:solidFill>
                  <a:srgbClr val="000000"/>
                </a:solidFill>
                <a:latin typeface="Times New Roman Bold"/>
                <a:ea typeface="Times New Roman Bold"/>
                <a:cs typeface="Times New Roman Bold"/>
                <a:sym typeface="Times New Roman Bold"/>
              </a:rPr>
              <a:t>Phase 4: GIS Analysis &amp; System Integration</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GIS Engine Integration</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Spatial Analysis Operations</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Weighted Overlay and suitability modeling</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Prototype Development</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System Integration</a:t>
            </a:r>
          </a:p>
          <a:p>
            <a:pPr algn="l">
              <a:lnSpc>
                <a:spcPts val="2916"/>
              </a:lnSpc>
            </a:pPr>
            <a:r>
              <a:rPr lang="en-US" sz="2700">
                <a:solidFill>
                  <a:srgbClr val="000000"/>
                </a:solidFill>
                <a:latin typeface="Times New Roman"/>
                <a:ea typeface="Times New Roman"/>
                <a:cs typeface="Times New Roman"/>
                <a:sym typeface="Times New Roman"/>
              </a:rPr>
              <a:t>Focus: Execute spatial models and integrate the full pipeline</a:t>
            </a:r>
          </a:p>
          <a:p>
            <a:pPr algn="l">
              <a:lnSpc>
                <a:spcPts val="2916"/>
              </a:lnSpc>
            </a:pPr>
            <a:r>
              <a:rPr lang="en-US" sz="2700">
                <a:solidFill>
                  <a:srgbClr val="000000"/>
                </a:solidFill>
                <a:latin typeface="Times New Roman"/>
                <a:ea typeface="Times New Roman"/>
                <a:cs typeface="Times New Roman"/>
                <a:sym typeface="Times New Roman"/>
              </a:rPr>
              <a:t>Status:</a:t>
            </a:r>
            <a:r>
              <a:rPr lang="en-US" sz="2700">
                <a:solidFill>
                  <a:srgbClr val="FF3131"/>
                </a:solidFill>
                <a:latin typeface="Times New Roman"/>
                <a:ea typeface="Times New Roman"/>
                <a:cs typeface="Times New Roman"/>
                <a:sym typeface="Times New Roman"/>
              </a:rPr>
              <a:t>Pending</a:t>
            </a:r>
          </a:p>
          <a:p>
            <a:pPr algn="l">
              <a:lnSpc>
                <a:spcPts val="2916"/>
              </a:lnSpc>
            </a:pPr>
          </a:p>
          <a:p>
            <a:pPr algn="l">
              <a:lnSpc>
                <a:spcPts val="2916"/>
              </a:lnSpc>
            </a:pPr>
            <a:r>
              <a:rPr lang="en-US" sz="2700" b="true">
                <a:solidFill>
                  <a:srgbClr val="000000"/>
                </a:solidFill>
                <a:latin typeface="Times New Roman Bold"/>
                <a:ea typeface="Times New Roman Bold"/>
                <a:cs typeface="Times New Roman Bold"/>
                <a:sym typeface="Times New Roman Bold"/>
              </a:rPr>
              <a:t>Phase 5: Testing, Visualization &amp; Deployment</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Testing and Debugging</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Performance Optimization</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UI and Visualization Enhancements</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Complex Query Handling</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Real-world Validation</a:t>
            </a:r>
          </a:p>
          <a:p>
            <a:pPr algn="l" marL="582945" indent="-291472" lvl="1">
              <a:lnSpc>
                <a:spcPts val="2916"/>
              </a:lnSpc>
              <a:buFont typeface="Arial"/>
              <a:buChar char="•"/>
            </a:pPr>
            <a:r>
              <a:rPr lang="en-US" sz="2700">
                <a:solidFill>
                  <a:srgbClr val="000000"/>
                </a:solidFill>
                <a:latin typeface="Times New Roman"/>
                <a:ea typeface="Times New Roman"/>
                <a:cs typeface="Times New Roman"/>
                <a:sym typeface="Times New Roman"/>
              </a:rPr>
              <a:t>Final Demo and Submission</a:t>
            </a:r>
          </a:p>
          <a:p>
            <a:pPr algn="l">
              <a:lnSpc>
                <a:spcPts val="2916"/>
              </a:lnSpc>
            </a:pPr>
            <a:r>
              <a:rPr lang="en-US" sz="2700">
                <a:solidFill>
                  <a:srgbClr val="000000"/>
                </a:solidFill>
                <a:latin typeface="Times New Roman"/>
                <a:ea typeface="Times New Roman"/>
                <a:cs typeface="Times New Roman"/>
                <a:sym typeface="Times New Roman"/>
              </a:rPr>
              <a:t>Focus: Validate results, improve usability, and finalize the system</a:t>
            </a:r>
          </a:p>
          <a:p>
            <a:pPr algn="l">
              <a:lnSpc>
                <a:spcPts val="2916"/>
              </a:lnSpc>
            </a:pPr>
            <a:r>
              <a:rPr lang="en-US" sz="2700">
                <a:solidFill>
                  <a:srgbClr val="000000"/>
                </a:solidFill>
                <a:latin typeface="Times New Roman"/>
                <a:ea typeface="Times New Roman"/>
                <a:cs typeface="Times New Roman"/>
                <a:sym typeface="Times New Roman"/>
              </a:rPr>
              <a:t>Status:</a:t>
            </a:r>
            <a:r>
              <a:rPr lang="en-US" sz="2700">
                <a:solidFill>
                  <a:srgbClr val="FF3131"/>
                </a:solidFill>
                <a:latin typeface="Times New Roman"/>
                <a:ea typeface="Times New Roman"/>
                <a:cs typeface="Times New Roman"/>
                <a:sym typeface="Times New Roman"/>
              </a:rPr>
              <a:t>Pending</a:t>
            </a:r>
          </a:p>
          <a:p>
            <a:pPr algn="l">
              <a:lnSpc>
                <a:spcPts val="2916"/>
              </a:lnSpc>
            </a:pPr>
          </a:p>
          <a:p>
            <a:pPr algn="l">
              <a:lnSpc>
                <a:spcPts val="2592"/>
              </a:lnSpc>
              <a:spcBef>
                <a:spcPct val="0"/>
              </a:spcBef>
            </a:pPr>
          </a:p>
        </p:txBody>
      </p:sp>
      <p:sp>
        <p:nvSpPr>
          <p:cNvPr name="Freeform 13" id="13"/>
          <p:cNvSpPr/>
          <p:nvPr/>
        </p:nvSpPr>
        <p:spPr>
          <a:xfrm flipH="false" flipV="false" rot="0">
            <a:off x="11094102" y="2375255"/>
            <a:ext cx="5865163" cy="4511664"/>
          </a:xfrm>
          <a:custGeom>
            <a:avLst/>
            <a:gdLst/>
            <a:ahLst/>
            <a:cxnLst/>
            <a:rect r="r" b="b" t="t" l="l"/>
            <a:pathLst>
              <a:path h="4511664" w="5865163">
                <a:moveTo>
                  <a:pt x="0" y="0"/>
                </a:moveTo>
                <a:lnTo>
                  <a:pt x="5865163" y="0"/>
                </a:lnTo>
                <a:lnTo>
                  <a:pt x="5865163" y="4511664"/>
                </a:lnTo>
                <a:lnTo>
                  <a:pt x="0" y="4511664"/>
                </a:lnTo>
                <a:lnTo>
                  <a:pt x="0" y="0"/>
                </a:lnTo>
                <a:close/>
              </a:path>
            </a:pathLst>
          </a:custGeom>
          <a:blipFill>
            <a:blip r:embed="rId4"/>
            <a:stretch>
              <a:fillRect l="0" t="0" r="0" b="0"/>
            </a:stretch>
          </a:blipFill>
        </p:spPr>
      </p:sp>
      <p:sp>
        <p:nvSpPr>
          <p:cNvPr name="TextBox 14" id="14"/>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Project Progress</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sp>
        <p:nvSpPr>
          <p:cNvPr name="TextBox 12" id="12"/>
          <p:cNvSpPr txBox="true"/>
          <p:nvPr/>
        </p:nvSpPr>
        <p:spPr>
          <a:xfrm rot="0">
            <a:off x="4384714" y="649415"/>
            <a:ext cx="9518572" cy="787146"/>
          </a:xfrm>
          <a:prstGeom prst="rect">
            <a:avLst/>
          </a:prstGeom>
        </p:spPr>
        <p:txBody>
          <a:bodyPr anchor="t" rtlCol="false" tIns="0" lIns="0" bIns="0" rIns="0">
            <a:spAutoFit/>
          </a:bodyPr>
          <a:lstStyle/>
          <a:p>
            <a:pPr algn="ctr">
              <a:lnSpc>
                <a:spcPts val="5832"/>
              </a:lnSpc>
              <a:spcBef>
                <a:spcPct val="0"/>
              </a:spcBef>
            </a:pPr>
            <a:r>
              <a:rPr lang="en-US" b="true" sz="5400">
                <a:solidFill>
                  <a:srgbClr val="000000"/>
                </a:solidFill>
                <a:latin typeface="Times New Roman Bold"/>
                <a:ea typeface="Times New Roman Bold"/>
                <a:cs typeface="Times New Roman Bold"/>
                <a:sym typeface="Times New Roman Bold"/>
              </a:rPr>
              <a:t>Conclusion</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36</a:t>
            </a:r>
          </a:p>
        </p:txBody>
      </p:sp>
      <p:sp>
        <p:nvSpPr>
          <p:cNvPr name="TextBox 14" id="14"/>
          <p:cNvSpPr txBox="true"/>
          <p:nvPr/>
        </p:nvSpPr>
        <p:spPr>
          <a:xfrm rot="0">
            <a:off x="628831" y="2362751"/>
            <a:ext cx="17462705" cy="6000115"/>
          </a:xfrm>
          <a:prstGeom prst="rect">
            <a:avLst/>
          </a:prstGeom>
        </p:spPr>
        <p:txBody>
          <a:bodyPr anchor="t" rtlCol="false" tIns="0" lIns="0" bIns="0" rIns="0">
            <a:spAutoFit/>
          </a:bodyPr>
          <a:lstStyle/>
          <a:p>
            <a:pPr algn="l">
              <a:lnSpc>
                <a:spcPts val="4759"/>
              </a:lnSpc>
            </a:pPr>
            <a:r>
              <a:rPr lang="en-US" sz="3399">
                <a:solidFill>
                  <a:srgbClr val="000000"/>
                </a:solidFill>
                <a:latin typeface="Times New Roman"/>
                <a:ea typeface="Times New Roman"/>
                <a:cs typeface="Times New Roman"/>
                <a:sym typeface="Times New Roman"/>
              </a:rPr>
              <a:t>This project presents a GIS-based suitability analysis approach for identifying optimal rainwater harvesting sites in Chandrapur district. By integrating multiple spatial parameters such as slope, soil type, rainfall, land use/land cover, drainage density, and population, the study provides a comprehensive and scientific framework for groundwater recharge planning. Using Multi-Criteria Decision </a:t>
            </a:r>
            <a:r>
              <a:rPr lang="en-US" sz="3399">
                <a:solidFill>
                  <a:srgbClr val="000000"/>
                </a:solidFill>
                <a:latin typeface="Times New Roman"/>
                <a:ea typeface="Times New Roman"/>
                <a:cs typeface="Times New Roman"/>
                <a:sym typeface="Times New Roman"/>
              </a:rPr>
              <a:t>Analysis (MCDA) and weighted overlay techniques, the system classifies regions into different suitability zones, enabling efficient decision-making for water conservation. The proposed methodology supports sustainable water resource management and offers a practical decision-support tool for planners and authorities. Furthermore, the model can be enhanced in the future by incorporating real-time data, field validation, and climate change considerations for improved accuracy and scalability.</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258300"/>
            <a:ext cx="1257662" cy="1049217"/>
            <a:chOff x="0" y="0"/>
            <a:chExt cx="1676883" cy="1398956"/>
          </a:xfrm>
        </p:grpSpPr>
        <p:sp>
          <p:nvSpPr>
            <p:cNvPr name="Freeform 3" id="3"/>
            <p:cNvSpPr/>
            <p:nvPr/>
          </p:nvSpPr>
          <p:spPr>
            <a:xfrm flipH="false" flipV="false" rot="0">
              <a:off x="0" y="0"/>
              <a:ext cx="1676908" cy="1398911"/>
            </a:xfrm>
            <a:custGeom>
              <a:avLst/>
              <a:gdLst/>
              <a:ahLst/>
              <a:cxnLst/>
              <a:rect r="r" b="b" t="t" l="l"/>
              <a:pathLst>
                <a:path h="1398911" w="1676908">
                  <a:moveTo>
                    <a:pt x="0" y="0"/>
                  </a:moveTo>
                  <a:lnTo>
                    <a:pt x="1676908" y="0"/>
                  </a:lnTo>
                  <a:lnTo>
                    <a:pt x="1676908" y="1398911"/>
                  </a:lnTo>
                  <a:lnTo>
                    <a:pt x="0" y="1398911"/>
                  </a:lnTo>
                  <a:lnTo>
                    <a:pt x="0" y="0"/>
                  </a:lnTo>
                  <a:close/>
                </a:path>
              </a:pathLst>
            </a:custGeom>
            <a:solidFill>
              <a:srgbClr val="A4242F"/>
            </a:solidFill>
          </p:spPr>
        </p:sp>
      </p:grpSp>
      <p:grpSp>
        <p:nvGrpSpPr>
          <p:cNvPr name="Group 4" id="4"/>
          <p:cNvGrpSpPr/>
          <p:nvPr/>
        </p:nvGrpSpPr>
        <p:grpSpPr>
          <a:xfrm rot="0">
            <a:off x="15254459" y="9534782"/>
            <a:ext cx="3034255" cy="772744"/>
            <a:chOff x="0" y="0"/>
            <a:chExt cx="4045674" cy="1030326"/>
          </a:xfrm>
        </p:grpSpPr>
        <p:sp>
          <p:nvSpPr>
            <p:cNvPr name="Freeform 5" id="5"/>
            <p:cNvSpPr/>
            <p:nvPr/>
          </p:nvSpPr>
          <p:spPr>
            <a:xfrm flipH="false" flipV="false" rot="0">
              <a:off x="0" y="0"/>
              <a:ext cx="4045712" cy="1030351"/>
            </a:xfrm>
            <a:custGeom>
              <a:avLst/>
              <a:gdLst/>
              <a:ahLst/>
              <a:cxnLst/>
              <a:rect r="r" b="b" t="t" l="l"/>
              <a:pathLst>
                <a:path h="1030351" w="4045712">
                  <a:moveTo>
                    <a:pt x="0" y="0"/>
                  </a:moveTo>
                  <a:lnTo>
                    <a:pt x="4045712" y="0"/>
                  </a:lnTo>
                  <a:lnTo>
                    <a:pt x="4045712" y="1030351"/>
                  </a:lnTo>
                  <a:lnTo>
                    <a:pt x="0" y="1030351"/>
                  </a:lnTo>
                  <a:lnTo>
                    <a:pt x="0" y="0"/>
                  </a:lnTo>
                  <a:close/>
                </a:path>
              </a:pathLst>
            </a:custGeom>
            <a:solidFill>
              <a:srgbClr val="D92129"/>
            </a:solidFill>
          </p:spPr>
        </p:sp>
      </p:grpSp>
      <p:grpSp>
        <p:nvGrpSpPr>
          <p:cNvPr name="Group 6" id="6"/>
          <p:cNvGrpSpPr/>
          <p:nvPr/>
        </p:nvGrpSpPr>
        <p:grpSpPr>
          <a:xfrm rot="0">
            <a:off x="1257119" y="9534782"/>
            <a:ext cx="13997883" cy="772744"/>
            <a:chOff x="0" y="0"/>
            <a:chExt cx="18663844" cy="1030326"/>
          </a:xfrm>
        </p:grpSpPr>
        <p:sp>
          <p:nvSpPr>
            <p:cNvPr name="Freeform 7" id="7"/>
            <p:cNvSpPr/>
            <p:nvPr/>
          </p:nvSpPr>
          <p:spPr>
            <a:xfrm flipH="false" flipV="false" rot="0">
              <a:off x="0" y="0"/>
              <a:ext cx="18663793" cy="1030351"/>
            </a:xfrm>
            <a:custGeom>
              <a:avLst/>
              <a:gdLst/>
              <a:ahLst/>
              <a:cxnLst/>
              <a:rect r="r" b="b" t="t" l="l"/>
              <a:pathLst>
                <a:path h="1030351" w="18663793">
                  <a:moveTo>
                    <a:pt x="0" y="0"/>
                  </a:moveTo>
                  <a:lnTo>
                    <a:pt x="18663793" y="0"/>
                  </a:lnTo>
                  <a:lnTo>
                    <a:pt x="18663793" y="1030351"/>
                  </a:lnTo>
                  <a:lnTo>
                    <a:pt x="0" y="1030351"/>
                  </a:lnTo>
                  <a:lnTo>
                    <a:pt x="0" y="0"/>
                  </a:lnTo>
                  <a:close/>
                </a:path>
              </a:pathLst>
            </a:custGeom>
            <a:solidFill>
              <a:srgbClr val="A4242F"/>
            </a:solidFill>
          </p:spPr>
        </p:sp>
      </p:grpSp>
      <p:grpSp>
        <p:nvGrpSpPr>
          <p:cNvPr name="Group 8" id="8"/>
          <p:cNvGrpSpPr/>
          <p:nvPr/>
        </p:nvGrpSpPr>
        <p:grpSpPr>
          <a:xfrm rot="0">
            <a:off x="16527780" y="581577"/>
            <a:ext cx="1092956" cy="809463"/>
            <a:chOff x="0" y="0"/>
            <a:chExt cx="1457274" cy="1079284"/>
          </a:xfrm>
        </p:grpSpPr>
        <p:sp>
          <p:nvSpPr>
            <p:cNvPr name="Freeform 9" id="9"/>
            <p:cNvSpPr/>
            <p:nvPr/>
          </p:nvSpPr>
          <p:spPr>
            <a:xfrm flipH="false" flipV="false" rot="0">
              <a:off x="0" y="0"/>
              <a:ext cx="1457325" cy="1079246"/>
            </a:xfrm>
            <a:custGeom>
              <a:avLst/>
              <a:gdLst/>
              <a:ahLst/>
              <a:cxnLst/>
              <a:rect r="r" b="b" t="t" l="l"/>
              <a:pathLst>
                <a:path h="1079246" w="1457325">
                  <a:moveTo>
                    <a:pt x="0" y="0"/>
                  </a:moveTo>
                  <a:lnTo>
                    <a:pt x="1457325" y="0"/>
                  </a:lnTo>
                  <a:lnTo>
                    <a:pt x="1457325" y="1079246"/>
                  </a:lnTo>
                  <a:lnTo>
                    <a:pt x="0" y="1079246"/>
                  </a:lnTo>
                  <a:lnTo>
                    <a:pt x="0" y="0"/>
                  </a:lnTo>
                  <a:close/>
                </a:path>
              </a:pathLst>
            </a:custGeom>
            <a:blipFill>
              <a:blip r:embed="rId2"/>
              <a:stretch>
                <a:fillRect l="0" t="-733" r="3" b="-737"/>
              </a:stretch>
            </a:blipFill>
          </p:spPr>
        </p:sp>
      </p:grpSp>
      <p:grpSp>
        <p:nvGrpSpPr>
          <p:cNvPr name="Group 10" id="10"/>
          <p:cNvGrpSpPr/>
          <p:nvPr/>
        </p:nvGrpSpPr>
        <p:grpSpPr>
          <a:xfrm rot="0">
            <a:off x="628564" y="581577"/>
            <a:ext cx="2971619" cy="971464"/>
            <a:chOff x="0" y="0"/>
            <a:chExt cx="3962159" cy="1295286"/>
          </a:xfrm>
        </p:grpSpPr>
        <p:sp>
          <p:nvSpPr>
            <p:cNvPr name="Freeform 11" id="11"/>
            <p:cNvSpPr/>
            <p:nvPr/>
          </p:nvSpPr>
          <p:spPr>
            <a:xfrm flipH="false" flipV="false" rot="0">
              <a:off x="0" y="0"/>
              <a:ext cx="3962146" cy="1295273"/>
            </a:xfrm>
            <a:custGeom>
              <a:avLst/>
              <a:gdLst/>
              <a:ahLst/>
              <a:cxnLst/>
              <a:rect r="r" b="b" t="t" l="l"/>
              <a:pathLst>
                <a:path h="1295273" w="3962146">
                  <a:moveTo>
                    <a:pt x="0" y="0"/>
                  </a:moveTo>
                  <a:lnTo>
                    <a:pt x="3962146" y="0"/>
                  </a:lnTo>
                  <a:lnTo>
                    <a:pt x="3962146" y="1295273"/>
                  </a:lnTo>
                  <a:lnTo>
                    <a:pt x="0" y="1295273"/>
                  </a:lnTo>
                  <a:lnTo>
                    <a:pt x="0" y="0"/>
                  </a:lnTo>
                  <a:close/>
                </a:path>
              </a:pathLst>
            </a:custGeom>
            <a:blipFill>
              <a:blip r:embed="rId3"/>
              <a:stretch>
                <a:fillRect l="0" t="-1" r="0" b="-1"/>
              </a:stretch>
            </a:blipFill>
          </p:spPr>
        </p:sp>
      </p:grpSp>
      <p:grpSp>
        <p:nvGrpSpPr>
          <p:cNvPr name="Group 12" id="12"/>
          <p:cNvGrpSpPr/>
          <p:nvPr/>
        </p:nvGrpSpPr>
        <p:grpSpPr>
          <a:xfrm rot="0">
            <a:off x="7451908" y="368009"/>
            <a:ext cx="3384185" cy="1236600"/>
            <a:chOff x="0" y="0"/>
            <a:chExt cx="4512247" cy="1648800"/>
          </a:xfrm>
        </p:grpSpPr>
        <p:sp>
          <p:nvSpPr>
            <p:cNvPr name="Freeform 13" id="13"/>
            <p:cNvSpPr/>
            <p:nvPr/>
          </p:nvSpPr>
          <p:spPr>
            <a:xfrm flipH="false" flipV="false" rot="0">
              <a:off x="0" y="0"/>
              <a:ext cx="4512246" cy="1648797"/>
            </a:xfrm>
            <a:custGeom>
              <a:avLst/>
              <a:gdLst/>
              <a:ahLst/>
              <a:cxnLst/>
              <a:rect r="r" b="b" t="t" l="l"/>
              <a:pathLst>
                <a:path h="1648797" w="4512246">
                  <a:moveTo>
                    <a:pt x="0" y="0"/>
                  </a:moveTo>
                  <a:lnTo>
                    <a:pt x="4512246" y="0"/>
                  </a:lnTo>
                  <a:lnTo>
                    <a:pt x="4512246" y="1648797"/>
                  </a:lnTo>
                  <a:lnTo>
                    <a:pt x="0" y="1648797"/>
                  </a:lnTo>
                  <a:close/>
                </a:path>
              </a:pathLst>
            </a:custGeom>
            <a:blipFill>
              <a:blip r:embed="rId4">
                <a:alphaModFix amt="0"/>
              </a:blip>
              <a:stretch>
                <a:fillRect l="0" t="-112764" r="-205233" b="-112764"/>
              </a:stretch>
            </a:blipFill>
          </p:spPr>
        </p:sp>
        <p:sp>
          <p:nvSpPr>
            <p:cNvPr name="TextBox 14" id="14"/>
            <p:cNvSpPr txBox="true"/>
            <p:nvPr/>
          </p:nvSpPr>
          <p:spPr>
            <a:xfrm>
              <a:off x="0" y="28575"/>
              <a:ext cx="4512247" cy="1620225"/>
            </a:xfrm>
            <a:prstGeom prst="rect">
              <a:avLst/>
            </a:prstGeom>
          </p:spPr>
          <p:txBody>
            <a:bodyPr anchor="ctr" rtlCol="false" tIns="0" lIns="0" bIns="0" rIns="0"/>
            <a:lstStyle/>
            <a:p>
              <a:pPr algn="ctr">
                <a:lnSpc>
                  <a:spcPts val="5832"/>
                </a:lnSpc>
              </a:pPr>
              <a:r>
                <a:rPr lang="en-US" sz="5400" b="true">
                  <a:solidFill>
                    <a:srgbClr val="000000"/>
                  </a:solidFill>
                  <a:latin typeface="Times New Roman Bold"/>
                  <a:ea typeface="Times New Roman Bold"/>
                  <a:cs typeface="Times New Roman Bold"/>
                  <a:sym typeface="Times New Roman Bold"/>
                </a:rPr>
                <a:t>References</a:t>
              </a:r>
            </a:p>
          </p:txBody>
        </p:sp>
      </p:grpSp>
      <p:sp>
        <p:nvSpPr>
          <p:cNvPr name="TextBox 15" id="15"/>
          <p:cNvSpPr txBox="true"/>
          <p:nvPr/>
        </p:nvSpPr>
        <p:spPr>
          <a:xfrm rot="0">
            <a:off x="561331" y="1827702"/>
            <a:ext cx="17059405" cy="7405281"/>
          </a:xfrm>
          <a:prstGeom prst="rect">
            <a:avLst/>
          </a:prstGeom>
        </p:spPr>
        <p:txBody>
          <a:bodyPr anchor="t" rtlCol="false" tIns="0" lIns="0" bIns="0" rIns="0">
            <a:spAutoFit/>
          </a:bodyPr>
          <a:lstStyle/>
          <a:p>
            <a:pPr algn="just">
              <a:lnSpc>
                <a:spcPts val="2333"/>
              </a:lnSpc>
              <a:spcBef>
                <a:spcPct val="0"/>
              </a:spcBef>
            </a:pPr>
            <a:r>
              <a:rPr lang="en-US" sz="2160">
                <a:solidFill>
                  <a:srgbClr val="000000"/>
                </a:solidFill>
                <a:latin typeface="Times New Roman"/>
                <a:ea typeface="Times New Roman"/>
                <a:cs typeface="Times New Roman"/>
                <a:sym typeface="Times New Roman"/>
              </a:rPr>
              <a:t>[1] J. Zhang, Y. Li, M. Batty, and Z. Wang, “GIS Copilot: Towards an Autonomous GIS Agent for Spatial Analysis,” arXiv preprint arXiv:2307.08245,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[2] M. Batty, K. Axhausen, F. Giannotti, A. Pozdnoukhov, A. Bazzani, M. Wachowicz, G. Ouzounis, and Y. Portugali, “GIScience in the Era of Artificial Intelligence: A Research Agenda,” arXiv preprint arXiv:2304.01221,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[3] Y. Li, J. Zhang, and Z. Wang, “Towards a Barrier-Free GeoQA Portal: Natural Language Interfaces for Geospatial Question Answering,” arXiv preprint arXiv:2306.09876,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[4] S. Jiang, A. Karpatne, V. Kumar, and Z. Li, “GPT-Based Text-to-SQL Translation for Spatial Databases,” ISPRS International Journal of Geo-Information, vol. 12, no. 8, pp. 1–19,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[5] A. K. Seif, A. Masria, M. Ghareeb, A. A. Saleh, K. Soliman and A. I. Ammar, “Identifying managed aquifer recharge and rain water harvesting sites and structures for storing non-conventional water using GIS-based multi-criteria decision analysis approach,” Applied Water Science, vol. 13, no. 3,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[6] B. Al-Hasani, M. Abdellatif, I. Carnacina, C. Harris, A. Al-Quraishi, B. F. Maaroof and S. L. Zubaidi, “Integrated geospatial approach for adaptive rainwater harvesting site selection under the impact of climate change,” Environmental Earth Sciences, vol. 83, 2024.</a:t>
            </a:r>
          </a:p>
          <a:p>
            <a:pPr algn="just">
              <a:lnSpc>
                <a:spcPts val="2333"/>
              </a:lnSpc>
              <a:spcBef>
                <a:spcPct val="0"/>
              </a:spcBef>
            </a:pPr>
            <a:r>
              <a:rPr lang="en-US" sz="2160">
                <a:solidFill>
                  <a:srgbClr val="000000"/>
                </a:solidFill>
                <a:latin typeface="Times New Roman"/>
                <a:ea typeface="Times New Roman"/>
                <a:cs typeface="Times New Roman"/>
                <a:sym typeface="Times New Roman"/>
              </a:rPr>
              <a:t>[7] A. Mustapha, Z. Qadem, A. Qadem and A. Salem, “Integrated GIS-based multi-criteria approach for rainwater harvesting site selection in the Moulouya Basin, Morocco,” Environmental Earth Sciences, vol. 82,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[8] M. A. Haziq and A. R. Ibrahimi, “Identification of suitable sites for rainwater harvesting using GIS in Kandahar Province, Afghanistan,” Indian Journal of Science and Technology, vol. 13, no. 37, pp. 3863–3875, 2020.</a:t>
            </a:r>
          </a:p>
          <a:p>
            <a:pPr algn="just">
              <a:lnSpc>
                <a:spcPts val="2333"/>
              </a:lnSpc>
              <a:spcBef>
                <a:spcPct val="0"/>
              </a:spcBef>
            </a:pPr>
            <a:r>
              <a:rPr lang="en-US" sz="2160">
                <a:solidFill>
                  <a:srgbClr val="000000"/>
                </a:solidFill>
                <a:latin typeface="Times New Roman"/>
                <a:ea typeface="Times New Roman"/>
                <a:cs typeface="Times New Roman"/>
                <a:sym typeface="Times New Roman"/>
              </a:rPr>
              <a:t>[9] S. M. Resen, A. A. Abbas and Z. A. Hamza, “GIS- and remote sensing-based multi-criteria analysis for rainwater harvesting site selection: A case study of Wadi Sarkhar Watershed, Wasit, Iraq,” International Journal of Design &amp; Nature and Ecodynamics, vol. 18, no. 5, pp. 1229–1243,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[10] T. A. Fetene, A. M. Kidanemariam, F. A. Menayehu, T. S. Alemu and F. D. Alemu, “A GIS-based multi-criteria evaluation for rainwater harvesting suitability in Awi Zone, Northwestern Ethiopia,” Discover Water, vol. 3, 2023.</a:t>
            </a:r>
          </a:p>
          <a:p>
            <a:pPr algn="just">
              <a:lnSpc>
                <a:spcPts val="2333"/>
              </a:lnSpc>
              <a:spcBef>
                <a:spcPct val="0"/>
              </a:spcBef>
            </a:pPr>
            <a:r>
              <a:rPr lang="en-US" sz="2160">
                <a:solidFill>
                  <a:srgbClr val="000000"/>
                </a:solidFill>
                <a:latin typeface="Times New Roman"/>
                <a:ea typeface="Times New Roman"/>
                <a:cs typeface="Times New Roman"/>
                <a:sym typeface="Times New Roman"/>
              </a:rPr>
              <a:t>[11] A. Alene, M. Yibeltal, A. Abera, T. G. Andualem and S. S. Lee, “Identifying rainwater harvesting sites using integrated GIS and a multi-criteria evaluation approach in semi-arid areas of Ethiopia,” Applied Water Science, vol. 12, 2022.</a:t>
            </a:r>
          </a:p>
          <a:p>
            <a:pPr algn="just">
              <a:lnSpc>
                <a:spcPts val="2333"/>
              </a:lnSpc>
              <a:spcBef>
                <a:spcPct val="0"/>
              </a:spcBef>
            </a:pPr>
            <a:r>
              <a:rPr lang="en-US" sz="2160">
                <a:solidFill>
                  <a:srgbClr val="000000"/>
                </a:solidFill>
                <a:latin typeface="Times New Roman"/>
                <a:ea typeface="Times New Roman"/>
                <a:cs typeface="Times New Roman"/>
                <a:sym typeface="Times New Roman"/>
              </a:rPr>
              <a:t>[12] A. Adham, K. N. Sayl, R. Abed, M. A. Abdeladhim, J. G. Wesseling, M. Riksen, L. Fleskens, U. Karim and C. J. Ritsema, “A GIS-based approach for identifying potential sites for harvesting rainwater in the Western Desert of Iraq,” International Soil and Water Conservation Research, vol. 6, no. 4, pp. 297–310, 2018.</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DAG_ugMVOpU</dc:identifier>
  <dcterms:modified xsi:type="dcterms:W3CDTF">2011-08-01T06:04:30Z</dcterms:modified>
  <cp:revision>1</cp:revision>
  <dc:title>BTech Major Project PPT</dc:title>
</cp:coreProperties>
</file>